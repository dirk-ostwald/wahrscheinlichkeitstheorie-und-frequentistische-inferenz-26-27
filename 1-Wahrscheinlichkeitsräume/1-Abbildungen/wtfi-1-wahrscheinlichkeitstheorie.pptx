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8" r:id="rId2"/>
  </p:sldIdLst>
  <p:sldSz cx="7920038" cy="5759450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5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4003" y="942577"/>
            <a:ext cx="6732032" cy="2005142"/>
          </a:xfrm>
        </p:spPr>
        <p:txBody>
          <a:bodyPr anchor="b"/>
          <a:lstStyle>
            <a:lvl1pPr algn="ctr"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005" y="3025045"/>
            <a:ext cx="5940029" cy="1390533"/>
          </a:xfrm>
        </p:spPr>
        <p:txBody>
          <a:bodyPr/>
          <a:lstStyle>
            <a:lvl1pPr marL="0" indent="0" algn="ctr">
              <a:buNone/>
              <a:defRPr sz="2016"/>
            </a:lvl1pPr>
            <a:lvl2pPr marL="383957" indent="0" algn="ctr">
              <a:buNone/>
              <a:defRPr sz="1680"/>
            </a:lvl2pPr>
            <a:lvl3pPr marL="767913" indent="0" algn="ctr">
              <a:buNone/>
              <a:defRPr sz="1512"/>
            </a:lvl3pPr>
            <a:lvl4pPr marL="1151870" indent="0" algn="ctr">
              <a:buNone/>
              <a:defRPr sz="1344"/>
            </a:lvl4pPr>
            <a:lvl5pPr marL="1535826" indent="0" algn="ctr">
              <a:buNone/>
              <a:defRPr sz="1344"/>
            </a:lvl5pPr>
            <a:lvl6pPr marL="1919783" indent="0" algn="ctr">
              <a:buNone/>
              <a:defRPr sz="1344"/>
            </a:lvl6pPr>
            <a:lvl7pPr marL="2303739" indent="0" algn="ctr">
              <a:buNone/>
              <a:defRPr sz="1344"/>
            </a:lvl7pPr>
            <a:lvl8pPr marL="2687696" indent="0" algn="ctr">
              <a:buNone/>
              <a:defRPr sz="1344"/>
            </a:lvl8pPr>
            <a:lvl9pPr marL="3071652" indent="0" algn="ctr">
              <a:buNone/>
              <a:defRPr sz="134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27409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4369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378" y="1435864"/>
            <a:ext cx="6831033" cy="2395771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0378" y="3854300"/>
            <a:ext cx="6831033" cy="1259879"/>
          </a:xfrm>
        </p:spPr>
        <p:txBody>
          <a:bodyPr/>
          <a:lstStyle>
            <a:lvl1pPr marL="0" indent="0">
              <a:buNone/>
              <a:defRPr sz="2016">
                <a:solidFill>
                  <a:schemeClr val="tx1"/>
                </a:solidFill>
              </a:defRPr>
            </a:lvl1pPr>
            <a:lvl2pPr marL="383957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2pPr>
            <a:lvl3pPr marL="767913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3pPr>
            <a:lvl4pPr marL="1151870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4pPr>
            <a:lvl5pPr marL="1535826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5pPr>
            <a:lvl6pPr marL="1919783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6pPr>
            <a:lvl7pPr marL="2303739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7pPr>
            <a:lvl8pPr marL="2687696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8pPr>
            <a:lvl9pPr marL="3071652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1474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4503" y="1533187"/>
            <a:ext cx="3366016" cy="365431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9519" y="1533187"/>
            <a:ext cx="3366016" cy="365431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2481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306639"/>
            <a:ext cx="6831033" cy="111322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5535" y="1411865"/>
            <a:ext cx="3350547" cy="691934"/>
          </a:xfrm>
        </p:spPr>
        <p:txBody>
          <a:bodyPr anchor="b"/>
          <a:lstStyle>
            <a:lvl1pPr marL="0" indent="0">
              <a:buNone/>
              <a:defRPr sz="2016" b="1"/>
            </a:lvl1pPr>
            <a:lvl2pPr marL="383957" indent="0">
              <a:buNone/>
              <a:defRPr sz="1680" b="1"/>
            </a:lvl2pPr>
            <a:lvl3pPr marL="767913" indent="0">
              <a:buNone/>
              <a:defRPr sz="1512" b="1"/>
            </a:lvl3pPr>
            <a:lvl4pPr marL="1151870" indent="0">
              <a:buNone/>
              <a:defRPr sz="1344" b="1"/>
            </a:lvl4pPr>
            <a:lvl5pPr marL="1535826" indent="0">
              <a:buNone/>
              <a:defRPr sz="1344" b="1"/>
            </a:lvl5pPr>
            <a:lvl6pPr marL="1919783" indent="0">
              <a:buNone/>
              <a:defRPr sz="1344" b="1"/>
            </a:lvl6pPr>
            <a:lvl7pPr marL="2303739" indent="0">
              <a:buNone/>
              <a:defRPr sz="1344" b="1"/>
            </a:lvl7pPr>
            <a:lvl8pPr marL="2687696" indent="0">
              <a:buNone/>
              <a:defRPr sz="1344" b="1"/>
            </a:lvl8pPr>
            <a:lvl9pPr marL="3071652" indent="0">
              <a:buNone/>
              <a:defRPr sz="134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5535" y="2103799"/>
            <a:ext cx="3350547" cy="30943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009520" y="1411865"/>
            <a:ext cx="3367048" cy="691934"/>
          </a:xfrm>
        </p:spPr>
        <p:txBody>
          <a:bodyPr anchor="b"/>
          <a:lstStyle>
            <a:lvl1pPr marL="0" indent="0">
              <a:buNone/>
              <a:defRPr sz="2016" b="1"/>
            </a:lvl1pPr>
            <a:lvl2pPr marL="383957" indent="0">
              <a:buNone/>
              <a:defRPr sz="1680" b="1"/>
            </a:lvl2pPr>
            <a:lvl3pPr marL="767913" indent="0">
              <a:buNone/>
              <a:defRPr sz="1512" b="1"/>
            </a:lvl3pPr>
            <a:lvl4pPr marL="1151870" indent="0">
              <a:buNone/>
              <a:defRPr sz="1344" b="1"/>
            </a:lvl4pPr>
            <a:lvl5pPr marL="1535826" indent="0">
              <a:buNone/>
              <a:defRPr sz="1344" b="1"/>
            </a:lvl5pPr>
            <a:lvl6pPr marL="1919783" indent="0">
              <a:buNone/>
              <a:defRPr sz="1344" b="1"/>
            </a:lvl6pPr>
            <a:lvl7pPr marL="2303739" indent="0">
              <a:buNone/>
              <a:defRPr sz="1344" b="1"/>
            </a:lvl7pPr>
            <a:lvl8pPr marL="2687696" indent="0">
              <a:buNone/>
              <a:defRPr sz="1344" b="1"/>
            </a:lvl8pPr>
            <a:lvl9pPr marL="3071652" indent="0">
              <a:buNone/>
              <a:defRPr sz="134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09520" y="2103799"/>
            <a:ext cx="3367048" cy="30943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0201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512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5752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383963"/>
            <a:ext cx="2554418" cy="1343872"/>
          </a:xfrm>
        </p:spPr>
        <p:txBody>
          <a:bodyPr anchor="b"/>
          <a:lstStyle>
            <a:lvl1pPr>
              <a:defRPr sz="268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67048" y="829256"/>
            <a:ext cx="4009519" cy="4092942"/>
          </a:xfrm>
        </p:spPr>
        <p:txBody>
          <a:bodyPr/>
          <a:lstStyle>
            <a:lvl1pPr>
              <a:defRPr sz="2687"/>
            </a:lvl1pPr>
            <a:lvl2pPr>
              <a:defRPr sz="2351"/>
            </a:lvl2pPr>
            <a:lvl3pPr>
              <a:defRPr sz="2016"/>
            </a:lvl3pPr>
            <a:lvl4pPr>
              <a:defRPr sz="1680"/>
            </a:lvl4pPr>
            <a:lvl5pPr>
              <a:defRPr sz="1680"/>
            </a:lvl5pPr>
            <a:lvl6pPr>
              <a:defRPr sz="1680"/>
            </a:lvl6pPr>
            <a:lvl7pPr>
              <a:defRPr sz="1680"/>
            </a:lvl7pPr>
            <a:lvl8pPr>
              <a:defRPr sz="1680"/>
            </a:lvl8pPr>
            <a:lvl9pPr>
              <a:defRPr sz="168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4" y="1727835"/>
            <a:ext cx="2554418" cy="3201028"/>
          </a:xfrm>
        </p:spPr>
        <p:txBody>
          <a:bodyPr/>
          <a:lstStyle>
            <a:lvl1pPr marL="0" indent="0">
              <a:buNone/>
              <a:defRPr sz="1344"/>
            </a:lvl1pPr>
            <a:lvl2pPr marL="383957" indent="0">
              <a:buNone/>
              <a:defRPr sz="1176"/>
            </a:lvl2pPr>
            <a:lvl3pPr marL="767913" indent="0">
              <a:buNone/>
              <a:defRPr sz="1008"/>
            </a:lvl3pPr>
            <a:lvl4pPr marL="1151870" indent="0">
              <a:buNone/>
              <a:defRPr sz="840"/>
            </a:lvl4pPr>
            <a:lvl5pPr marL="1535826" indent="0">
              <a:buNone/>
              <a:defRPr sz="840"/>
            </a:lvl5pPr>
            <a:lvl6pPr marL="1919783" indent="0">
              <a:buNone/>
              <a:defRPr sz="840"/>
            </a:lvl6pPr>
            <a:lvl7pPr marL="2303739" indent="0">
              <a:buNone/>
              <a:defRPr sz="840"/>
            </a:lvl7pPr>
            <a:lvl8pPr marL="2687696" indent="0">
              <a:buNone/>
              <a:defRPr sz="840"/>
            </a:lvl8pPr>
            <a:lvl9pPr marL="3071652" indent="0">
              <a:buNone/>
              <a:defRPr sz="84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0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383963"/>
            <a:ext cx="2554418" cy="1343872"/>
          </a:xfrm>
        </p:spPr>
        <p:txBody>
          <a:bodyPr anchor="b"/>
          <a:lstStyle>
            <a:lvl1pPr>
              <a:defRPr sz="268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67048" y="829256"/>
            <a:ext cx="4009519" cy="4092942"/>
          </a:xfrm>
        </p:spPr>
        <p:txBody>
          <a:bodyPr anchor="t"/>
          <a:lstStyle>
            <a:lvl1pPr marL="0" indent="0">
              <a:buNone/>
              <a:defRPr sz="2687"/>
            </a:lvl1pPr>
            <a:lvl2pPr marL="383957" indent="0">
              <a:buNone/>
              <a:defRPr sz="2351"/>
            </a:lvl2pPr>
            <a:lvl3pPr marL="767913" indent="0">
              <a:buNone/>
              <a:defRPr sz="2016"/>
            </a:lvl3pPr>
            <a:lvl4pPr marL="1151870" indent="0">
              <a:buNone/>
              <a:defRPr sz="1680"/>
            </a:lvl4pPr>
            <a:lvl5pPr marL="1535826" indent="0">
              <a:buNone/>
              <a:defRPr sz="1680"/>
            </a:lvl5pPr>
            <a:lvl6pPr marL="1919783" indent="0">
              <a:buNone/>
              <a:defRPr sz="1680"/>
            </a:lvl6pPr>
            <a:lvl7pPr marL="2303739" indent="0">
              <a:buNone/>
              <a:defRPr sz="1680"/>
            </a:lvl7pPr>
            <a:lvl8pPr marL="2687696" indent="0">
              <a:buNone/>
              <a:defRPr sz="1680"/>
            </a:lvl8pPr>
            <a:lvl9pPr marL="3071652" indent="0">
              <a:buNone/>
              <a:defRPr sz="168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4" y="1727835"/>
            <a:ext cx="2554418" cy="3201028"/>
          </a:xfrm>
        </p:spPr>
        <p:txBody>
          <a:bodyPr/>
          <a:lstStyle>
            <a:lvl1pPr marL="0" indent="0">
              <a:buNone/>
              <a:defRPr sz="1344"/>
            </a:lvl1pPr>
            <a:lvl2pPr marL="383957" indent="0">
              <a:buNone/>
              <a:defRPr sz="1176"/>
            </a:lvl2pPr>
            <a:lvl3pPr marL="767913" indent="0">
              <a:buNone/>
              <a:defRPr sz="1008"/>
            </a:lvl3pPr>
            <a:lvl4pPr marL="1151870" indent="0">
              <a:buNone/>
              <a:defRPr sz="840"/>
            </a:lvl4pPr>
            <a:lvl5pPr marL="1535826" indent="0">
              <a:buNone/>
              <a:defRPr sz="840"/>
            </a:lvl5pPr>
            <a:lvl6pPr marL="1919783" indent="0">
              <a:buNone/>
              <a:defRPr sz="840"/>
            </a:lvl6pPr>
            <a:lvl7pPr marL="2303739" indent="0">
              <a:buNone/>
              <a:defRPr sz="840"/>
            </a:lvl7pPr>
            <a:lvl8pPr marL="2687696" indent="0">
              <a:buNone/>
              <a:defRPr sz="840"/>
            </a:lvl8pPr>
            <a:lvl9pPr marL="3071652" indent="0">
              <a:buNone/>
              <a:defRPr sz="84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0128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6348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667778" y="306637"/>
            <a:ext cx="1707758" cy="488086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4503" y="306637"/>
            <a:ext cx="5024274" cy="488086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879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4503" y="306639"/>
            <a:ext cx="6831033" cy="1113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503" y="1533187"/>
            <a:ext cx="6831033" cy="3654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4502" y="5338158"/>
            <a:ext cx="1782009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41A6A7-50F4-463B-910E-CFAB06BEAEBD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23513" y="5338158"/>
            <a:ext cx="2673013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93527" y="5338158"/>
            <a:ext cx="1782009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F71EA9-8F64-41D2-B146-948977218C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252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67913" rtl="0" eaLnBrk="1" latinLnBrk="0" hangingPunct="1">
        <a:lnSpc>
          <a:spcPct val="90000"/>
        </a:lnSpc>
        <a:spcBef>
          <a:spcPct val="0"/>
        </a:spcBef>
        <a:buNone/>
        <a:defRPr sz="36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1978" indent="-191978" algn="l" defTabSz="767913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2351" kern="1200">
          <a:solidFill>
            <a:schemeClr val="tx1"/>
          </a:solidFill>
          <a:latin typeface="+mn-lt"/>
          <a:ea typeface="+mn-ea"/>
          <a:cs typeface="+mn-cs"/>
        </a:defRPr>
      </a:lvl1pPr>
      <a:lvl2pPr marL="575935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2016" kern="1200">
          <a:solidFill>
            <a:schemeClr val="tx1"/>
          </a:solidFill>
          <a:latin typeface="+mn-lt"/>
          <a:ea typeface="+mn-ea"/>
          <a:cs typeface="+mn-cs"/>
        </a:defRPr>
      </a:lvl2pPr>
      <a:lvl3pPr marL="959891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3pPr>
      <a:lvl4pPr marL="1343848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4pPr>
      <a:lvl5pPr marL="1727805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5pPr>
      <a:lvl6pPr marL="2111761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6pPr>
      <a:lvl7pPr marL="2495718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7pPr>
      <a:lvl8pPr marL="2879674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8pPr>
      <a:lvl9pPr marL="3263631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1pPr>
      <a:lvl2pPr marL="383957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67913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3pPr>
      <a:lvl4pPr marL="1151870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4pPr>
      <a:lvl5pPr marL="1535826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5pPr>
      <a:lvl6pPr marL="1919783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6pPr>
      <a:lvl7pPr marL="2303739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7pPr>
      <a:lvl8pPr marL="2687696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8pPr>
      <a:lvl9pPr marL="3071652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9F40F4F-055A-400D-A8D2-DF2C06AF5180}"/>
              </a:ext>
            </a:extLst>
          </p:cNvPr>
          <p:cNvGrpSpPr/>
          <p:nvPr/>
        </p:nvGrpSpPr>
        <p:grpSpPr>
          <a:xfrm flipH="1">
            <a:off x="1752966" y="694962"/>
            <a:ext cx="4472082" cy="4472081"/>
            <a:chOff x="2608226" y="1345579"/>
            <a:chExt cx="3788509" cy="378850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60AE87E-4453-4F60-ABAF-84596E066A02}"/>
                </a:ext>
              </a:extLst>
            </p:cNvPr>
            <p:cNvSpPr/>
            <p:nvPr/>
          </p:nvSpPr>
          <p:spPr>
            <a:xfrm>
              <a:off x="2608226" y="1345579"/>
              <a:ext cx="3788508" cy="378850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4698CF7-637D-4FF3-AFCA-11C3A0126CCA}"/>
                </a:ext>
              </a:extLst>
            </p:cNvPr>
            <p:cNvSpPr/>
            <p:nvPr/>
          </p:nvSpPr>
          <p:spPr>
            <a:xfrm>
              <a:off x="2608226" y="1784343"/>
              <a:ext cx="3788509" cy="29109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ight Triangle 5">
              <a:extLst>
                <a:ext uri="{FF2B5EF4-FFF2-40B4-BE49-F238E27FC236}">
                  <a16:creationId xmlns:a16="http://schemas.microsoft.com/office/drawing/2014/main" id="{046DA639-B137-42BC-82EA-D64380FF0D5D}"/>
                </a:ext>
              </a:extLst>
            </p:cNvPr>
            <p:cNvSpPr/>
            <p:nvPr/>
          </p:nvSpPr>
          <p:spPr>
            <a:xfrm>
              <a:off x="3196205" y="1687870"/>
              <a:ext cx="192946" cy="192946"/>
            </a:xfrm>
            <a:prstGeom prst="rtTriangle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ight Triangle 6">
              <a:extLst>
                <a:ext uri="{FF2B5EF4-FFF2-40B4-BE49-F238E27FC236}">
                  <a16:creationId xmlns:a16="http://schemas.microsoft.com/office/drawing/2014/main" id="{D4C23F88-B8B9-4DB3-B819-144890DA27AE}"/>
                </a:ext>
              </a:extLst>
            </p:cNvPr>
            <p:cNvSpPr/>
            <p:nvPr/>
          </p:nvSpPr>
          <p:spPr>
            <a:xfrm rot="10800000">
              <a:off x="5610413" y="4608508"/>
              <a:ext cx="192946" cy="192946"/>
            </a:xfrm>
            <a:prstGeom prst="rtTriangle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3305106-1DC6-47FB-8419-153ABFB09606}"/>
              </a:ext>
            </a:extLst>
          </p:cNvPr>
          <p:cNvSpPr txBox="1"/>
          <p:nvPr/>
        </p:nvSpPr>
        <p:spPr>
          <a:xfrm>
            <a:off x="968285" y="1347242"/>
            <a:ext cx="137031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000" dirty="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Realität</a:t>
            </a:r>
          </a:p>
        </p:txBody>
      </p:sp>
      <p:sp>
        <p:nvSpPr>
          <p:cNvPr id="12" name="Cloud 11">
            <a:extLst>
              <a:ext uri="{FF2B5EF4-FFF2-40B4-BE49-F238E27FC236}">
                <a16:creationId xmlns:a16="http://schemas.microsoft.com/office/drawing/2014/main" id="{6FC897C2-999C-4CA0-88AA-F2E0AD9A04E0}"/>
              </a:ext>
            </a:extLst>
          </p:cNvPr>
          <p:cNvSpPr/>
          <p:nvPr/>
        </p:nvSpPr>
        <p:spPr>
          <a:xfrm>
            <a:off x="4556521" y="1599080"/>
            <a:ext cx="3278722" cy="2890841"/>
          </a:xfrm>
          <a:prstGeom prst="cloud">
            <a:avLst/>
          </a:prstGeom>
          <a:blipFill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C00251-5025-4EF5-8399-8B2EBFFC145E}"/>
              </a:ext>
            </a:extLst>
          </p:cNvPr>
          <p:cNvSpPr txBox="1"/>
          <p:nvPr/>
        </p:nvSpPr>
        <p:spPr>
          <a:xfrm>
            <a:off x="4759940" y="2038758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latin typeface="CMU Sans Serif" panose="02000603000000000000" pitchFamily="50" charset="0"/>
                <a:ea typeface="CMU Sans Serif" panose="02000603000000000000" pitchFamily="50" charset="0"/>
                <a:cs typeface="CMU Sans Serif" panose="02000603000000000000" pitchFamily="50" charset="0"/>
              </a:rPr>
              <a:t>Wahrscheinlichkeitstheorie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AD075E-5354-4ABE-AB85-D5B071585A0C}"/>
              </a:ext>
            </a:extLst>
          </p:cNvPr>
          <p:cNvSpPr txBox="1"/>
          <p:nvPr/>
        </p:nvSpPr>
        <p:spPr>
          <a:xfrm>
            <a:off x="4999589" y="2444580"/>
            <a:ext cx="22429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>
                    <a:lumMod val="50000"/>
                  </a:schemeClr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Probabilistisches Modell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18EE49-40B5-478E-B3A3-52AB3593BDA3}"/>
              </a:ext>
            </a:extLst>
          </p:cNvPr>
          <p:cNvSpPr txBox="1"/>
          <p:nvPr/>
        </p:nvSpPr>
        <p:spPr>
          <a:xfrm>
            <a:off x="4798412" y="3205774"/>
            <a:ext cx="2645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>
                    <a:lumMod val="50000"/>
                  </a:schemeClr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Wahrscheinlichkeitsrechnung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CFAEFDA-1490-4232-9697-373920959759}"/>
                  </a:ext>
                </a:extLst>
              </p:cNvPr>
              <p:cNvSpPr txBox="1"/>
              <p:nvPr/>
            </p:nvSpPr>
            <p:spPr>
              <a:xfrm>
                <a:off x="5183422" y="2830730"/>
                <a:ext cx="187525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de-DE" sz="160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de-DE" sz="160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  <m: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ℙ</m:t>
                          </m:r>
                        </m:e>
                      </m:d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𝜉</m:t>
                      </m:r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de-DE" sz="160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de-DE" sz="16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CFAEFDA-1490-4232-9697-373920959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422" y="2830730"/>
                <a:ext cx="1875257" cy="338554"/>
              </a:xfrm>
              <a:prstGeom prst="rect">
                <a:avLst/>
              </a:prstGeom>
              <a:blipFill>
                <a:blip r:embed="rId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6A93C44-D71F-4A32-926F-C18F1F158287}"/>
                  </a:ext>
                </a:extLst>
              </p:cNvPr>
              <p:cNvSpPr txBox="1"/>
              <p:nvPr/>
            </p:nvSpPr>
            <p:spPr>
              <a:xfrm>
                <a:off x="5155594" y="3594947"/>
                <a:ext cx="1930913" cy="3647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ℙ</m:t>
                          </m:r>
                        </m:e>
                        <m:sub>
                          <m: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sub>
                      </m:sSub>
                      <m:d>
                        <m:dPr>
                          <m:ctrlP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ℙ</m:t>
                      </m:r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p>
                          <m:r>
                            <a:rPr lang="de-DE" sz="1600" i="1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1600" i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de-DE" sz="16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6A93C44-D71F-4A32-926F-C18F1F158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5594" y="3594947"/>
                <a:ext cx="1930913" cy="364780"/>
              </a:xfrm>
              <a:prstGeom prst="rect">
                <a:avLst/>
              </a:prstGeom>
              <a:blipFill>
                <a:blip r:embed="rId4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BE3FFAE8-CE9F-44C9-98F7-502EAAE534B7}"/>
              </a:ext>
            </a:extLst>
          </p:cNvPr>
          <p:cNvSpPr txBox="1"/>
          <p:nvPr/>
        </p:nvSpPr>
        <p:spPr>
          <a:xfrm>
            <a:off x="2038262" y="279880"/>
            <a:ext cx="3929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Repräsentation zentraler Eigenschaften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E93DD-5B71-40FF-B9D4-3FC68E89DFF2}"/>
              </a:ext>
            </a:extLst>
          </p:cNvPr>
          <p:cNvSpPr txBox="1"/>
          <p:nvPr/>
        </p:nvSpPr>
        <p:spPr>
          <a:xfrm>
            <a:off x="3292611" y="885725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Modellierung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69F9A2-AF6B-4647-9D4D-F1D8EFF90738}"/>
              </a:ext>
            </a:extLst>
          </p:cNvPr>
          <p:cNvSpPr txBox="1"/>
          <p:nvPr/>
        </p:nvSpPr>
        <p:spPr>
          <a:xfrm>
            <a:off x="3319061" y="4589727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Vorhersagen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B26F24-F1ED-43CF-AA2A-FAA82841D015}"/>
              </a:ext>
            </a:extLst>
          </p:cNvPr>
          <p:cNvSpPr txBox="1"/>
          <p:nvPr/>
        </p:nvSpPr>
        <p:spPr>
          <a:xfrm>
            <a:off x="2338023" y="5266849"/>
            <a:ext cx="3329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Quantifizierung von Unsicherheit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C3C8A-6E76-491D-A5B0-066F6F5F67A9}"/>
              </a:ext>
            </a:extLst>
          </p:cNvPr>
          <p:cNvSpPr txBox="1"/>
          <p:nvPr/>
        </p:nvSpPr>
        <p:spPr>
          <a:xfrm>
            <a:off x="5478086" y="1333465"/>
            <a:ext cx="12859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000" dirty="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Modell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B87DA3F-0A37-4972-8B84-AD3118DFAF8A}"/>
              </a:ext>
            </a:extLst>
          </p:cNvPr>
          <p:cNvGrpSpPr/>
          <p:nvPr/>
        </p:nvGrpSpPr>
        <p:grpSpPr>
          <a:xfrm>
            <a:off x="701515" y="1852436"/>
            <a:ext cx="2188022" cy="2435230"/>
            <a:chOff x="5959540" y="2616031"/>
            <a:chExt cx="2553083" cy="2841536"/>
          </a:xfrm>
        </p:grpSpPr>
        <p:pic>
          <p:nvPicPr>
            <p:cNvPr id="23" name="Picture 22" descr="A picture containing remote, controller, indoor, game&#10;&#10;Description automatically generated">
              <a:extLst>
                <a:ext uri="{FF2B5EF4-FFF2-40B4-BE49-F238E27FC236}">
                  <a16:creationId xmlns:a16="http://schemas.microsoft.com/office/drawing/2014/main" id="{4799A0FE-DBF3-44FC-B547-A1A8BF0954A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63373" y="2866929"/>
              <a:ext cx="777344" cy="586024"/>
            </a:xfrm>
            <a:prstGeom prst="rect">
              <a:avLst/>
            </a:prstGeom>
          </p:spPr>
        </p:pic>
        <p:pic>
          <p:nvPicPr>
            <p:cNvPr id="34" name="Picture 33" descr="A person working on a computer&#10;&#10;Description automatically generated with low confidence">
              <a:extLst>
                <a:ext uri="{FF2B5EF4-FFF2-40B4-BE49-F238E27FC236}">
                  <a16:creationId xmlns:a16="http://schemas.microsoft.com/office/drawing/2014/main" id="{2DDB4FBC-E6FF-45DA-825C-E36189F7A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64503" y="3537055"/>
              <a:ext cx="1231535" cy="684589"/>
            </a:xfrm>
            <a:prstGeom prst="rect">
              <a:avLst/>
            </a:prstGeom>
          </p:spPr>
        </p:pic>
        <p:pic>
          <p:nvPicPr>
            <p:cNvPr id="37" name="Picture 36" descr="A close up of a roulette wheel&#10;&#10;Description automatically generated with medium confidence">
              <a:extLst>
                <a:ext uri="{FF2B5EF4-FFF2-40B4-BE49-F238E27FC236}">
                  <a16:creationId xmlns:a16="http://schemas.microsoft.com/office/drawing/2014/main" id="{D7607054-71A3-46D2-9A07-46F468FE200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01873" y="3825064"/>
              <a:ext cx="921192" cy="614128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39" name="Picture 38" descr="Text&#10;&#10;Description automatically generated with low confidence">
              <a:extLst>
                <a:ext uri="{FF2B5EF4-FFF2-40B4-BE49-F238E27FC236}">
                  <a16:creationId xmlns:a16="http://schemas.microsoft.com/office/drawing/2014/main" id="{3B5CC7A7-FC1A-436E-B73A-54753402B87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20797" y="2616031"/>
              <a:ext cx="842997" cy="1103965"/>
            </a:xfrm>
            <a:prstGeom prst="rect">
              <a:avLst/>
            </a:prstGeom>
          </p:spPr>
        </p:pic>
        <p:pic>
          <p:nvPicPr>
            <p:cNvPr id="41" name="Picture 40" descr="A group of people sitting in chairs&#10;&#10;Description automatically generated with low confidence">
              <a:extLst>
                <a:ext uri="{FF2B5EF4-FFF2-40B4-BE49-F238E27FC236}">
                  <a16:creationId xmlns:a16="http://schemas.microsoft.com/office/drawing/2014/main" id="{6B9CBA47-8A45-408D-8C24-7B1D73F53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9540" y="4538998"/>
              <a:ext cx="2553083" cy="918569"/>
            </a:xfrm>
            <a:prstGeom prst="rect">
              <a:avLst/>
            </a:prstGeom>
          </p:spPr>
        </p:pic>
        <p:pic>
          <p:nvPicPr>
            <p:cNvPr id="26" name="Picture 25" descr="A picture containing logo&#10;&#10;Description automatically generated">
              <a:extLst>
                <a:ext uri="{FF2B5EF4-FFF2-40B4-BE49-F238E27FC236}">
                  <a16:creationId xmlns:a16="http://schemas.microsoft.com/office/drawing/2014/main" id="{AD6370E4-D950-44DE-ACAE-5858E1218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9297" y="3123239"/>
              <a:ext cx="516850" cy="516850"/>
            </a:xfrm>
            <a:prstGeom prst="rect">
              <a:avLst/>
            </a:prstGeom>
          </p:spPr>
        </p:pic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0232B15F-3167-4A3B-8ED0-7D7F53A40B37}"/>
              </a:ext>
            </a:extLst>
          </p:cNvPr>
          <p:cNvSpPr/>
          <p:nvPr/>
        </p:nvSpPr>
        <p:spPr>
          <a:xfrm>
            <a:off x="436248" y="1852436"/>
            <a:ext cx="2491217" cy="259439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26C4DA-8239-4EDD-8E73-20E880E6E7F2}"/>
              </a:ext>
            </a:extLst>
          </p:cNvPr>
          <p:cNvSpPr txBox="1"/>
          <p:nvPr/>
        </p:nvSpPr>
        <p:spPr>
          <a:xfrm>
            <a:off x="810102" y="2067459"/>
            <a:ext cx="1686679" cy="3744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de-DE" dirty="0"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Zufallsvorgänge</a:t>
            </a:r>
            <a:endParaRPr lang="de-DE" sz="1600" dirty="0">
              <a:solidFill>
                <a:srgbClr val="0070C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48C25C5-3AE9-4AA2-A1DA-E7AE1D5D9094}"/>
              </a:ext>
            </a:extLst>
          </p:cNvPr>
          <p:cNvSpPr txBox="1"/>
          <p:nvPr/>
        </p:nvSpPr>
        <p:spPr>
          <a:xfrm>
            <a:off x="153672" y="2584937"/>
            <a:ext cx="2999539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de-DE" sz="1700" dirty="0">
                <a:solidFill>
                  <a:schemeClr val="bg1">
                    <a:lumMod val="50000"/>
                  </a:schemeClr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Phänomene, die von Menschen</a:t>
            </a:r>
          </a:p>
          <a:p>
            <a:pPr algn="ctr">
              <a:lnSpc>
                <a:spcPts val="2160"/>
              </a:lnSpc>
            </a:pPr>
            <a:r>
              <a:rPr lang="de-DE" sz="1700" dirty="0">
                <a:solidFill>
                  <a:schemeClr val="bg1">
                    <a:lumMod val="50000"/>
                  </a:schemeClr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nicht mit absoluter Sicherheit</a:t>
            </a:r>
          </a:p>
          <a:p>
            <a:pPr algn="ctr">
              <a:lnSpc>
                <a:spcPts val="2160"/>
              </a:lnSpc>
            </a:pPr>
            <a:r>
              <a:rPr lang="de-DE" sz="1700" dirty="0">
                <a:solidFill>
                  <a:schemeClr val="bg1">
                    <a:lumMod val="50000"/>
                  </a:schemeClr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vorhergesagt werden können.</a:t>
            </a:r>
            <a:endParaRPr lang="de-DE" sz="17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3224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44</Words>
  <Application>Microsoft Office PowerPoint</Application>
  <PresentationFormat>Benutzerdefiniert</PresentationFormat>
  <Paragraphs>15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CMU Sans Serif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Dirk Ostwald</dc:creator>
  <cp:lastModifiedBy>Dirk Ostwald</cp:lastModifiedBy>
  <cp:revision>10</cp:revision>
  <cp:lastPrinted>2021-10-19T07:58:02Z</cp:lastPrinted>
  <dcterms:created xsi:type="dcterms:W3CDTF">2021-10-15T06:13:51Z</dcterms:created>
  <dcterms:modified xsi:type="dcterms:W3CDTF">2026-10-22T12:39:34Z</dcterms:modified>
</cp:coreProperties>
</file>