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9144000" cy="6858000" type="screen4x3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9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483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256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05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798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5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00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92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78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7462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3568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90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1A6A7-50F4-463B-910E-CFAB06BEAEB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23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9F40F4F-055A-400D-A8D2-DF2C06AF5180}"/>
              </a:ext>
            </a:extLst>
          </p:cNvPr>
          <p:cNvGrpSpPr/>
          <p:nvPr/>
        </p:nvGrpSpPr>
        <p:grpSpPr>
          <a:xfrm>
            <a:off x="2359140" y="935139"/>
            <a:ext cx="4472082" cy="4472081"/>
            <a:chOff x="2608226" y="1345579"/>
            <a:chExt cx="3788509" cy="37885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60AE87E-4453-4F60-ABAF-84596E066A02}"/>
                </a:ext>
              </a:extLst>
            </p:cNvPr>
            <p:cNvSpPr/>
            <p:nvPr/>
          </p:nvSpPr>
          <p:spPr>
            <a:xfrm>
              <a:off x="2608226" y="1345579"/>
              <a:ext cx="3788508" cy="37885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698CF7-637D-4FF3-AFCA-11C3A0126CCA}"/>
                </a:ext>
              </a:extLst>
            </p:cNvPr>
            <p:cNvSpPr/>
            <p:nvPr/>
          </p:nvSpPr>
          <p:spPr>
            <a:xfrm>
              <a:off x="2608226" y="1784343"/>
              <a:ext cx="3788509" cy="2910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endParaRPr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046DA639-B137-42BC-82EA-D64380FF0D5D}"/>
                </a:ext>
              </a:extLst>
            </p:cNvPr>
            <p:cNvSpPr/>
            <p:nvPr/>
          </p:nvSpPr>
          <p:spPr>
            <a:xfrm>
              <a:off x="3196205" y="1687870"/>
              <a:ext cx="192946" cy="192946"/>
            </a:xfrm>
            <a:prstGeom prst="rtTriangl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endParaRPr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D4C23F88-B8B9-4DB3-B819-144890DA27AE}"/>
                </a:ext>
              </a:extLst>
            </p:cNvPr>
            <p:cNvSpPr/>
            <p:nvPr/>
          </p:nvSpPr>
          <p:spPr>
            <a:xfrm rot="10800000">
              <a:off x="5610413" y="4608508"/>
              <a:ext cx="192946" cy="192946"/>
            </a:xfrm>
            <a:prstGeom prst="rtTriangl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3305106-1DC6-47FB-8419-153ABFB09606}"/>
              </a:ext>
            </a:extLst>
          </p:cNvPr>
          <p:cNvSpPr txBox="1"/>
          <p:nvPr/>
        </p:nvSpPr>
        <p:spPr>
          <a:xfrm>
            <a:off x="5843843" y="1574155"/>
            <a:ext cx="21018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Wirklichkeit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6FC897C2-999C-4CA0-88AA-F2E0AD9A04E0}"/>
              </a:ext>
            </a:extLst>
          </p:cNvPr>
          <p:cNvSpPr/>
          <p:nvPr/>
        </p:nvSpPr>
        <p:spPr>
          <a:xfrm>
            <a:off x="513824" y="1788935"/>
            <a:ext cx="3624044" cy="3195311"/>
          </a:xfrm>
          <a:prstGeom prst="cloud">
            <a:avLst/>
          </a:prstGeom>
          <a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latin typeface="CMU Sans Serif" panose="02000603000000000000" pitchFamily="50" charset="0"/>
              <a:ea typeface="CMU Sans Serif" panose="02000603000000000000" pitchFamily="50" charset="0"/>
              <a:cs typeface="CMU Sans Serif" panose="02000603000000000000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00251-5025-4EF5-8399-8B2EBFFC145E}"/>
              </a:ext>
            </a:extLst>
          </p:cNvPr>
          <p:cNvSpPr txBox="1"/>
          <p:nvPr/>
        </p:nvSpPr>
        <p:spPr>
          <a:xfrm>
            <a:off x="990646" y="2317948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Wahrscheinlichkeitstheorie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4E93DD-5B71-40FF-B9D4-3FC68E89DFF2}"/>
              </a:ext>
            </a:extLst>
          </p:cNvPr>
          <p:cNvSpPr txBox="1"/>
          <p:nvPr/>
        </p:nvSpPr>
        <p:spPr>
          <a:xfrm>
            <a:off x="1873888" y="220017"/>
            <a:ext cx="5442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Jede Augenzahl kommt im Mittel gleich häufig vor</a:t>
            </a:r>
          </a:p>
          <a:p>
            <a:pPr algn="ctr"/>
            <a:r>
              <a:rPr lang="de-DE" sz="1600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Ich denke, jede Augenzahl hat die gleiche Wahrscheinlichkeit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69F9A2-AF6B-4647-9D4D-F1D8EFF90738}"/>
              </a:ext>
            </a:extLst>
          </p:cNvPr>
          <p:cNvSpPr txBox="1"/>
          <p:nvPr/>
        </p:nvSpPr>
        <p:spPr>
          <a:xfrm>
            <a:off x="3843212" y="4820700"/>
            <a:ext cx="1503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Vorhersagen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C3C8A-6E76-491D-A5B0-066F6F5F67A9}"/>
              </a:ext>
            </a:extLst>
          </p:cNvPr>
          <p:cNvSpPr txBox="1"/>
          <p:nvPr/>
        </p:nvSpPr>
        <p:spPr>
          <a:xfrm>
            <a:off x="1609405" y="1577214"/>
            <a:ext cx="12666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000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Modell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14922E-9721-411B-B418-0E3CB95B6CC5}"/>
                  </a:ext>
                </a:extLst>
              </p:cNvPr>
              <p:cNvSpPr txBox="1"/>
              <p:nvPr/>
            </p:nvSpPr>
            <p:spPr>
              <a:xfrm>
                <a:off x="1270785" y="2805347"/>
                <a:ext cx="21465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DE" sz="20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≔{1,2,3,4,5,6}</m:t>
                      </m:r>
                    </m:oMath>
                  </m:oMathPara>
                </a14:m>
                <a:endParaRPr lang="de-DE" sz="20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14922E-9721-411B-B418-0E3CB95B6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785" y="2805347"/>
                <a:ext cx="2146549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FE35E46-B8DB-4778-B4B7-BC35394232E6}"/>
                  </a:ext>
                </a:extLst>
              </p:cNvPr>
              <p:cNvSpPr txBox="1"/>
              <p:nvPr/>
            </p:nvSpPr>
            <p:spPr>
              <a:xfrm>
                <a:off x="1614068" y="3323279"/>
                <a:ext cx="147219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FE35E46-B8DB-4778-B4B7-BC3539423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68" y="3323279"/>
                <a:ext cx="1472198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E5BFBD2-E656-4D74-B1F7-99F7F08ADF77}"/>
                  </a:ext>
                </a:extLst>
              </p:cNvPr>
              <p:cNvSpPr txBox="1"/>
              <p:nvPr/>
            </p:nvSpPr>
            <p:spPr>
              <a:xfrm>
                <a:off x="1412795" y="3837269"/>
                <a:ext cx="189994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sz="20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e-DE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0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de-DE" sz="20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≔1/6</m:t>
                      </m:r>
                    </m:oMath>
                  </m:oMathPara>
                </a14:m>
                <a:endParaRPr lang="de-DE" sz="2000" b="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endParaRPr>
              </a:p>
              <a:p>
                <a:endParaRPr lang="de-DE" sz="2000" dirty="0">
                  <a:solidFill>
                    <a:schemeClr val="bg1">
                      <a:lumMod val="50000"/>
                    </a:schemeClr>
                  </a:solidFill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E5BFBD2-E656-4D74-B1F7-99F7F08AD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95" y="3837269"/>
                <a:ext cx="1899944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F4D97138-3D1C-41A5-BF6E-FDA09C893B61}"/>
              </a:ext>
            </a:extLst>
          </p:cNvPr>
          <p:cNvSpPr txBox="1"/>
          <p:nvPr/>
        </p:nvSpPr>
        <p:spPr>
          <a:xfrm>
            <a:off x="3813557" y="1188641"/>
            <a:ext cx="1563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Modellierung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29DFE1-F9D8-4A7E-8CC6-6E7115347018}"/>
              </a:ext>
            </a:extLst>
          </p:cNvPr>
          <p:cNvSpPr txBox="1"/>
          <p:nvPr/>
        </p:nvSpPr>
        <p:spPr>
          <a:xfrm>
            <a:off x="6045785" y="2317299"/>
            <a:ext cx="1582484" cy="3744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de-DE" dirty="0"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Zufallsvorgang</a:t>
            </a:r>
            <a:endParaRPr lang="de-DE" sz="1600" dirty="0">
              <a:solidFill>
                <a:srgbClr val="0070C0"/>
              </a:solidFill>
              <a:latin typeface="CMU Sans Serif" panose="02000603000000000000" pitchFamily="50" charset="0"/>
              <a:ea typeface="CMU Sans Serif" panose="02000603000000000000" pitchFamily="50" charset="0"/>
              <a:cs typeface="CMU Sans Serif" panose="02000603000000000000" pitchFamily="50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DCD7DE-3391-48EA-84F6-FF3E3B15BC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586" y="2805347"/>
            <a:ext cx="1516374" cy="154829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2F4ABD0-154E-4098-802B-A7C3E1295C9C}"/>
              </a:ext>
            </a:extLst>
          </p:cNvPr>
          <p:cNvSpPr/>
          <p:nvPr/>
        </p:nvSpPr>
        <p:spPr>
          <a:xfrm>
            <a:off x="5649164" y="2628088"/>
            <a:ext cx="2491217" cy="205099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MU Sans Serif" panose="02000603000000000000" pitchFamily="50" charset="0"/>
              <a:ea typeface="CMU Sans Serif" panose="02000603000000000000" pitchFamily="50" charset="0"/>
              <a:cs typeface="CMU Sans Serif" panose="02000603000000000000" pitchFamily="50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166026-EAA4-4AA7-AB70-16D85C54B6C0}"/>
              </a:ext>
            </a:extLst>
          </p:cNvPr>
          <p:cNvSpPr txBox="1"/>
          <p:nvPr/>
        </p:nvSpPr>
        <p:spPr>
          <a:xfrm>
            <a:off x="5367027" y="3268956"/>
            <a:ext cx="3140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000" dirty="0">
                <a:solidFill>
                  <a:schemeClr val="bg1">
                    <a:lumMod val="50000"/>
                  </a:schemeClr>
                </a:solidFill>
                <a:latin typeface="CMU Sans Serif" panose="02000603000000000000" pitchFamily="50" charset="0"/>
                <a:ea typeface="CMU Sans Serif" panose="02000603000000000000" pitchFamily="50" charset="0"/>
                <a:cs typeface="CMU Sans Serif" panose="02000603000000000000" pitchFamily="50" charset="0"/>
              </a:rPr>
              <a:t>Werfen eines fairen Würfels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FFB7C-6448-4C8B-9F74-866B67C3BC96}"/>
              </a:ext>
            </a:extLst>
          </p:cNvPr>
          <p:cNvSpPr txBox="1"/>
          <p:nvPr/>
        </p:nvSpPr>
        <p:spPr>
          <a:xfrm>
            <a:off x="1515698" y="5950413"/>
            <a:ext cx="1847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600" dirty="0">
              <a:highlight>
                <a:srgbClr val="FFFF00"/>
              </a:highlight>
              <a:latin typeface="CMU Sans Serif" panose="02000603000000000000" pitchFamily="50" charset="0"/>
              <a:ea typeface="CMU Sans Serif" panose="02000603000000000000" pitchFamily="50" charset="0"/>
              <a:cs typeface="CMU Sans Serif" panose="02000603000000000000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587A3F-B048-402E-B722-3E3B18213526}"/>
                  </a:ext>
                </a:extLst>
              </p:cNvPr>
              <p:cNvSpPr txBox="1"/>
              <p:nvPr/>
            </p:nvSpPr>
            <p:spPr>
              <a:xfrm>
                <a:off x="1453297" y="5558777"/>
                <a:ext cx="6283765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600" dirty="0">
                    <a:latin typeface="CMU Sans Serif" panose="02000603000000000000" pitchFamily="50" charset="0"/>
                    <a:ea typeface="CMU Sans Serif" panose="02000603000000000000" pitchFamily="50" charset="0"/>
                    <a:cs typeface="CMU Sans Serif" panose="02000603000000000000" pitchFamily="50" charset="0"/>
                  </a:rPr>
                  <a:t>Wenn ich nicht weiß, ob eine Augenzahl größer als Drei gefallen ist, dann ist die Wahrscheinlichkeit, dass die Augenzahl gerade ist</a:t>
                </a:r>
                <a14:m>
                  <m:oMath xmlns:m="http://schemas.openxmlformats.org/officeDocument/2006/math">
                    <m:r>
                      <a:rPr lang="de-DE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6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de-DE" sz="1600" dirty="0">
                    <a:latin typeface="CMU Sans Serif" panose="02000603000000000000" pitchFamily="50" charset="0"/>
                    <a:ea typeface="CMU Sans Serif" panose="02000603000000000000" pitchFamily="50" charset="0"/>
                    <a:cs typeface="CMU Sans Serif" panose="02000603000000000000" pitchFamily="50" charset="0"/>
                  </a:rPr>
                  <a:t>. </a:t>
                </a:r>
              </a:p>
              <a:p>
                <a:pPr algn="ctr"/>
                <a:endParaRPr lang="de-DE" sz="400" dirty="0"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endParaRPr>
              </a:p>
              <a:p>
                <a:pPr algn="ctr"/>
                <a:r>
                  <a:rPr lang="de-DE" sz="1600" dirty="0">
                    <a:latin typeface="CMU Sans Serif" panose="02000603000000000000" pitchFamily="50" charset="0"/>
                    <a:ea typeface="CMU Sans Serif" panose="02000603000000000000" pitchFamily="50" charset="0"/>
                    <a:cs typeface="CMU Sans Serif" panose="02000603000000000000" pitchFamily="50" charset="0"/>
                  </a:rPr>
                  <a:t>Wenn ich weiß, dass eine Augenzahl größer als Drei gefallen ist, dann ist die Wahrscheinlichkeit dafür, dass die Augenzahl gerade ist </a:t>
                </a: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2/3</m:t>
                    </m:r>
                  </m:oMath>
                </a14:m>
                <a:r>
                  <a:rPr lang="de-DE" sz="1600" dirty="0">
                    <a:latin typeface="CMU Sans Serif" panose="02000603000000000000" pitchFamily="50" charset="0"/>
                    <a:ea typeface="CMU Sans Serif" panose="02000603000000000000" pitchFamily="50" charset="0"/>
                    <a:cs typeface="CMU Sans Serif" panose="02000603000000000000" pitchFamily="50" charset="0"/>
                  </a:rPr>
                  <a:t>. </a:t>
                </a:r>
              </a:p>
              <a:p>
                <a:endParaRPr lang="de-DE" dirty="0">
                  <a:latin typeface="CMU Sans Serif" panose="02000603000000000000" pitchFamily="50" charset="0"/>
                  <a:ea typeface="CMU Sans Serif" panose="02000603000000000000" pitchFamily="50" charset="0"/>
                  <a:cs typeface="CMU Sans Serif" panose="02000603000000000000" pitchFamily="50" charset="0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587A3F-B048-402E-B722-3E3B18213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297" y="5558777"/>
                <a:ext cx="6283765" cy="1415772"/>
              </a:xfrm>
              <a:prstGeom prst="rect">
                <a:avLst/>
              </a:prstGeom>
              <a:blipFill>
                <a:blip r:embed="rId7"/>
                <a:stretch>
                  <a:fillRect t="-1724" r="-19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255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</Words>
  <Application>Microsoft Office PowerPoint</Application>
  <PresentationFormat>Bildschirmpräsentation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Sans Serif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11</cp:revision>
  <cp:lastPrinted>2021-10-19T07:58:02Z</cp:lastPrinted>
  <dcterms:created xsi:type="dcterms:W3CDTF">2021-10-15T06:13:51Z</dcterms:created>
  <dcterms:modified xsi:type="dcterms:W3CDTF">2026-10-13T08:22:50Z</dcterms:modified>
</cp:coreProperties>
</file>