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385000" cy="1821656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7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Adapted from the user-provided page of Florian Huber, Introduction to Data Science (for not-yet-scientists), v0.13, Fig. 2.1. The two historical portraits are reproduced from that supplied figure. The traditional Bayes portrait is illustrative, not an authenticated likeness.</a:t>
            </a:r>
          </a:p>
          <a:p>
            <a:r>
              <a:rPr dirty="0"/>
              <a:t>The three-strand layout is schematic and is not a proportional time axis or an assertion that all fields merge into a single method. The original first neural-network-machine milestone is omitted to leave room for the requested additions. The original generic 1920 CLT label is replaced by Lindeberg (1922). Gauss claimed earlier use of least squares in 1795; Legendre published in 1805.</a:t>
            </a:r>
          </a:p>
          <a:p>
            <a:r>
              <a:rPr dirty="0"/>
              <a:t>Fisher is placed in 1925–1935, with Neyman–Pearson testing distinguished by its 1933 date. Monte Carlo emerged in the postwar Los Alamos setting, following wartime computational work, around 1946–1949. Markov chain Monte Carlo is represented by the 1953 Metropolis algorithm, not dated to WWII. Deep learning in 2015 refers to the landmark review and the field's prominence, not its invention. Random forests are dated to </a:t>
            </a:r>
            <a:r>
              <a:rPr dirty="0" err="1"/>
              <a:t>Breiman</a:t>
            </a:r>
            <a:r>
              <a:rPr dirty="0"/>
              <a:t> (2001), separately from SVMs (1995).</a:t>
            </a:r>
          </a:p>
          <a:p>
            <a:r>
              <a:rPr dirty="0"/>
              <a:t>Sources for additions and corrections:</a:t>
            </a:r>
          </a:p>
          <a:p>
            <a:r>
              <a:rPr dirty="0"/>
              <a:t>Fisher, The Design of Experiments (1935), preface also discussing Statistical Methods for Research Workers (1925): https://mimno.infosci.cornell.edu/info3350/readings/fisher.pdf</a:t>
            </a:r>
          </a:p>
          <a:p>
            <a:r>
              <a:rPr dirty="0"/>
              <a:t>Neyman &amp; Pearson (1933): https://doi.org/10.1098/rsta.1933.0009</a:t>
            </a:r>
          </a:p>
          <a:p>
            <a:r>
              <a:rPr dirty="0"/>
              <a:t>Metropolis, The Beginning of the Monte Carlo Method (1987): https://mcnp-green.lanl.gov/pdf_files/Article_1987_LAS_Metropolis_125--130.pdf</a:t>
            </a:r>
          </a:p>
          <a:p>
            <a:r>
              <a:rPr dirty="0"/>
              <a:t>Metropolis &amp; Ulam (1949): https://doi.org/10.1080/01621459.1949.10483310</a:t>
            </a:r>
          </a:p>
          <a:p>
            <a:r>
              <a:rPr dirty="0"/>
              <a:t>Metropolis et al. (1953): https://www.osti.gov/biblio/4390578</a:t>
            </a:r>
          </a:p>
          <a:p>
            <a:r>
              <a:rPr dirty="0"/>
              <a:t>Cortes &amp; </a:t>
            </a:r>
            <a:r>
              <a:rPr dirty="0" err="1"/>
              <a:t>Vapnik</a:t>
            </a:r>
            <a:r>
              <a:rPr dirty="0"/>
              <a:t> (1995): https://doi.org/10.1007/BF00994018</a:t>
            </a:r>
          </a:p>
          <a:p>
            <a:r>
              <a:rPr dirty="0" err="1"/>
              <a:t>Breiman</a:t>
            </a:r>
            <a:r>
              <a:rPr dirty="0"/>
              <a:t> (2001): https://doi.org/10.1023/A:1010933404324</a:t>
            </a:r>
          </a:p>
          <a:p>
            <a:r>
              <a:rPr dirty="0"/>
              <a:t>Rumelhart, Hinton &amp; Williams (1986): https://www.cs.toronto.edu/~hinton/absps/naturebp.pdf</a:t>
            </a:r>
          </a:p>
          <a:p>
            <a:r>
              <a:rPr dirty="0" err="1"/>
              <a:t>AlexNet</a:t>
            </a:r>
            <a:r>
              <a:rPr dirty="0"/>
              <a:t> (2012): https://proceedings.neurips.cc/paper/2012/hash/c399862d3b9d6b76c8436e924a68c45b-Abstract.html</a:t>
            </a:r>
          </a:p>
          <a:p>
            <a:r>
              <a:rPr dirty="0"/>
              <a:t>LeCun, Bengio &amp; Hinton, Deep learning (2015): https://www.nature.com/articles/nature14539</a:t>
            </a:r>
          </a:p>
          <a:p>
            <a:r>
              <a:rPr dirty="0"/>
              <a:t>Vaswani et al. (2017): https://arxiv.org/abs/1706.03762</a:t>
            </a:r>
          </a:p>
          <a:p>
            <a:r>
              <a:rPr dirty="0"/>
              <a:t>OpenAI, Introducing ChatGPT (30 November 2022): https://openai.com/index/chatgpt/</a:t>
            </a:r>
          </a:p>
          <a:p>
            <a:r>
              <a:rPr dirty="0"/>
              <a:t>CUDA: https://developer.nvidia.com/blog/cuda-refresher-getting-started-with-cuda/ and https://developer.nvidia.com/content/cuda-toolkit-11-june-2007</a:t>
            </a:r>
          </a:p>
          <a:p>
            <a:r>
              <a:rPr dirty="0"/>
              <a:t>ADDITIONAL SOURCES AND HISTORICAL CONTEXT</a:t>
            </a:r>
          </a:p>
          <a:p>
            <a:r>
              <a:rPr dirty="0"/>
              <a:t>Factor analysis: placed in the 1920s through Charles Spearman's The Abilities of Man (1927), with roots in his 1904 work. This is a consolidation milestone, not a claim that factor analysis began in 1927. https://wellcomecollection.org/works/evdevd8m ; https://www.nature.com/articles/120181a0</a:t>
            </a:r>
          </a:p>
          <a:p>
            <a:r>
              <a:rPr dirty="0"/>
              <a:t>John W. Tukey (1962), The Future of Data Analysis: https://doi.org/10.1214/aoms/1177704711</a:t>
            </a:r>
          </a:p>
          <a:p>
            <a:r>
              <a:rPr dirty="0"/>
              <a:t>EM: Arthur P. Dempster, Nan M. Laird &amp; Donald B. Rubin (1977): https://academic.oup.com/jrsssb/article/39/1/1/7027539</a:t>
            </a:r>
          </a:p>
          <a:p>
            <a:r>
              <a:rPr dirty="0"/>
              <a:t>Variational inference: Michael I. Jordan, </a:t>
            </a:r>
            <a:r>
              <a:rPr dirty="0" err="1"/>
              <a:t>Zoubin</a:t>
            </a:r>
            <a:r>
              <a:rPr dirty="0"/>
              <a:t> Ghahramani, Tommi S. Jaakkola &amp; Lawrence K. Saul (1999), An Introduction to Variational Methods for Graphical Models. The late 1990s label reflects modern graphical-model methodology, not the origin of variational or mean-field methods. https://people.eecs.berkeley.edu/~jordan/papers/variational-intro.pdf</a:t>
            </a:r>
          </a:p>
          <a:p>
            <a:r>
              <a:rPr dirty="0"/>
              <a:t>Alan Turing (1936), On Computable Numbers, with an Application to the </a:t>
            </a:r>
            <a:r>
              <a:rPr dirty="0" err="1"/>
              <a:t>Entscheidungsproblem</a:t>
            </a:r>
            <a:r>
              <a:rPr dirty="0"/>
              <a:t>: https://www.cs.virginia.edu/~robins/Turing_Paper_1936.pdf</a:t>
            </a:r>
          </a:p>
          <a:p>
            <a:r>
              <a:rPr dirty="0"/>
              <a:t>John von Neumann (1945), First Draft of a Report on the EDVAC: https://www.computerhistory.org/timeline/1945/ . The name identifies the report and associated architecture, not sole invention; Eckert, Mauchly and others also contributed.</a:t>
            </a:r>
          </a:p>
          <a:p>
            <a:r>
              <a:rPr dirty="0"/>
              <a:t>C++ (1985) is the first commercial release, by Bjarne Stroustrup. Work began in 1979 and the name dates to 1983. https://www.stroustrup.com/bs_faq.html</a:t>
            </a:r>
          </a:p>
          <a:p>
            <a:r>
              <a:rPr dirty="0"/>
              <a:t>Python (1991) is the first public release, by Guido van Rossum. https://docs.python.org/3/faq/general.html#why-was-python-created-in-the-first-place</a:t>
            </a:r>
          </a:p>
          <a:p>
            <a:r>
              <a:rPr dirty="0"/>
              <a:t>World Wide Web: Tim Berners-Lee's proposal (1989), first browser/server (1990), and public announcement (1991). https://home.cern/science/computing/the-birth-of-the-web/ ; https://timeline-upgrade.web.cern.ch/timeline-header/90</a:t>
            </a:r>
          </a:p>
          <a:p>
            <a:endParaRPr dirty="0"/>
          </a:p>
          <a:p>
            <a:r>
              <a:rPr dirty="0"/>
              <a:t>PORTRAIT CREDITS</a:t>
            </a:r>
          </a:p>
          <a:p>
            <a:r>
              <a:rPr dirty="0"/>
              <a:t>Fisher (1952): Barry </a:t>
            </a:r>
            <a:r>
              <a:rPr dirty="0" err="1"/>
              <a:t>Eagel</a:t>
            </a:r>
            <a:r>
              <a:rPr dirty="0"/>
              <a:t>, CC BY-SA 4.0. Cropped and resized. https://commons.wikimedia.org/wiki/File:Ronald_Aylmer_Fisher_1952.jpg ; https://creativecommons.org/licenses/by-sa/4.0/</a:t>
            </a:r>
          </a:p>
          <a:p>
            <a:r>
              <a:rPr dirty="0"/>
              <a:t>Kolmogorov: Konrad Jacobs, copyright MFO, CC BY-SA 2.0 Germany. Cropped and resized. https://commons.wikimedia.org/wiki/File:Andrej_Nikolajewitsch_Kolmogorov.jpg ; https://creativecommons.org/licenses/by-sa/2.0/de/</a:t>
            </a:r>
          </a:p>
          <a:p>
            <a:r>
              <a:rPr dirty="0"/>
              <a:t>Hinton (2024): Arthur Petron, CC BY-SA 4.0. Cropped and resized. The photo is not from the year of the milestone. https://commons.wikimedia.org/wiki/File:Geoffrey_E._Hinton,_2024_Nobel_Prize_Laureate_in_Physics.jpg ; https://creativecommons.org/licenses/by-sa/4.0/</a:t>
            </a:r>
          </a:p>
          <a:p>
            <a:r>
              <a:rPr dirty="0"/>
              <a:t>These adapted portraits retain their respective Creative Commons licenses. Bayes and Gauss portraits are reproduced from the supplied reference figure.</a:t>
            </a:r>
          </a:p>
          <a:p>
            <a:endParaRPr dirty="0"/>
          </a:p>
          <a:p>
            <a:r>
              <a:rPr dirty="0"/>
              <a:t>Remaining milestones follow the supplied reference figure. Bibliographical sources above are hyperlinks for verification, not endorsements.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 name="path-0">
            <a:extLst>
              <a:ext uri="{FF2B5EF4-FFF2-40B4-BE49-F238E27FC236}">
                <a16:creationId xmlns:a16="http://schemas.microsoft.com/office/drawing/2014/main" id="{024B9685-E07C-4434-9B42-43612D7E983B}"/>
              </a:ext>
            </a:extLst>
          </p:cNvPr>
          <p:cNvSpPr>
            <a:spLocks noGrp="1"/>
          </p:cNvSpPr>
          <p:nvPr/>
        </p:nvSpPr>
        <p:spPr>
          <a:xfrm>
            <a:off x="1238250" y="6762750"/>
            <a:ext cx="29908500" cy="9525"/>
          </a:xfrm>
          <a:custGeom>
            <a:avLst/>
            <a:gdLst/>
            <a:ahLst/>
            <a:cxnLst/>
            <a:rect l="0" t="0" r="0" b="0"/>
            <a:pathLst>
              <a:path w="29908500" h="9525">
                <a:moveTo>
                  <a:pt x="0" y="0"/>
                </a:moveTo>
                <a:lnTo>
                  <a:pt x="29908500" y="0"/>
                </a:lnTo>
              </a:path>
            </a:pathLst>
          </a:custGeom>
          <a:noFill/>
          <a:ln w="104775">
            <a:solidFill>
              <a:srgbClr val="3987BB"/>
            </a:solidFill>
          </a:ln>
        </p:spPr>
        <p:txBody>
          <a:bodyPr/>
          <a:lstStyle/>
          <a:p>
            <a:endParaRPr lang="de-DE"/>
          </a:p>
        </p:txBody>
      </p:sp>
      <p:sp>
        <p:nvSpPr>
          <p:cNvPr id="2" name="path-1">
            <a:extLst>
              <a:ext uri="{FF2B5EF4-FFF2-40B4-BE49-F238E27FC236}">
                <a16:creationId xmlns:a16="http://schemas.microsoft.com/office/drawing/2014/main" id="{5E2D74B3-595E-445A-90E0-4652201F3286}"/>
              </a:ext>
            </a:extLst>
          </p:cNvPr>
          <p:cNvSpPr>
            <a:spLocks noGrp="1"/>
          </p:cNvSpPr>
          <p:nvPr/>
        </p:nvSpPr>
        <p:spPr>
          <a:xfrm>
            <a:off x="3143250" y="7953375"/>
            <a:ext cx="17811750" cy="2843256"/>
          </a:xfrm>
          <a:custGeom>
            <a:avLst/>
            <a:gdLst/>
            <a:ahLst/>
            <a:cxnLst/>
            <a:rect l="0" t="0" r="0" b="0"/>
            <a:pathLst>
              <a:path w="17811750" h="2843256">
                <a:moveTo>
                  <a:pt x="0" y="2809875"/>
                </a:moveTo>
                <a:lnTo>
                  <a:pt x="356887" y="2812729"/>
                </a:lnTo>
                <a:lnTo>
                  <a:pt x="707511" y="2815565"/>
                </a:lnTo>
                <a:lnTo>
                  <a:pt x="1051954" y="2818364"/>
                </a:lnTo>
                <a:lnTo>
                  <a:pt x="1390296" y="2821107"/>
                </a:lnTo>
                <a:lnTo>
                  <a:pt x="1722620" y="2823776"/>
                </a:lnTo>
                <a:lnTo>
                  <a:pt x="2049006" y="2826351"/>
                </a:lnTo>
                <a:lnTo>
                  <a:pt x="2369535" y="2828816"/>
                </a:lnTo>
                <a:lnTo>
                  <a:pt x="2684288" y="2831150"/>
                </a:lnTo>
                <a:lnTo>
                  <a:pt x="2993347" y="2833336"/>
                </a:lnTo>
                <a:lnTo>
                  <a:pt x="3296793" y="2835354"/>
                </a:lnTo>
                <a:lnTo>
                  <a:pt x="3594707" y="2837187"/>
                </a:lnTo>
                <a:lnTo>
                  <a:pt x="3887169" y="2838816"/>
                </a:lnTo>
                <a:lnTo>
                  <a:pt x="4174262" y="2840221"/>
                </a:lnTo>
                <a:lnTo>
                  <a:pt x="4456066" y="2841386"/>
                </a:lnTo>
                <a:lnTo>
                  <a:pt x="4732663" y="2842290"/>
                </a:lnTo>
                <a:lnTo>
                  <a:pt x="5004133" y="2842915"/>
                </a:lnTo>
                <a:lnTo>
                  <a:pt x="5270558" y="2843244"/>
                </a:lnTo>
                <a:lnTo>
                  <a:pt x="5532019" y="2843256"/>
                </a:lnTo>
                <a:lnTo>
                  <a:pt x="5788598" y="2842935"/>
                </a:lnTo>
                <a:lnTo>
                  <a:pt x="6040374" y="2842260"/>
                </a:lnTo>
                <a:lnTo>
                  <a:pt x="6287430" y="2841214"/>
                </a:lnTo>
                <a:lnTo>
                  <a:pt x="6529846" y="2839778"/>
                </a:lnTo>
                <a:lnTo>
                  <a:pt x="6767704" y="2837933"/>
                </a:lnTo>
                <a:lnTo>
                  <a:pt x="7001085" y="2835661"/>
                </a:lnTo>
                <a:lnTo>
                  <a:pt x="7230070" y="2832943"/>
                </a:lnTo>
                <a:lnTo>
                  <a:pt x="7454740" y="2829761"/>
                </a:lnTo>
                <a:lnTo>
                  <a:pt x="7675177" y="2826096"/>
                </a:lnTo>
                <a:lnTo>
                  <a:pt x="7891461" y="2821930"/>
                </a:lnTo>
                <a:lnTo>
                  <a:pt x="8103674" y="2817243"/>
                </a:lnTo>
                <a:lnTo>
                  <a:pt x="8311896" y="2812018"/>
                </a:lnTo>
                <a:lnTo>
                  <a:pt x="8516209" y="2806236"/>
                </a:lnTo>
                <a:lnTo>
                  <a:pt x="8716695" y="2799878"/>
                </a:lnTo>
                <a:lnTo>
                  <a:pt x="8913433" y="2792925"/>
                </a:lnTo>
                <a:lnTo>
                  <a:pt x="9106507" y="2785360"/>
                </a:lnTo>
                <a:lnTo>
                  <a:pt x="9295995" y="2777163"/>
                </a:lnTo>
                <a:lnTo>
                  <a:pt x="9481981" y="2768316"/>
                </a:lnTo>
                <a:lnTo>
                  <a:pt x="9664544" y="2758800"/>
                </a:lnTo>
                <a:lnTo>
                  <a:pt x="9843766" y="2748597"/>
                </a:lnTo>
                <a:lnTo>
                  <a:pt x="10019728" y="2737688"/>
                </a:lnTo>
                <a:lnTo>
                  <a:pt x="10192512" y="2726055"/>
                </a:lnTo>
                <a:lnTo>
                  <a:pt x="10362198" y="2713679"/>
                </a:lnTo>
                <a:lnTo>
                  <a:pt x="10528868" y="2700541"/>
                </a:lnTo>
                <a:lnTo>
                  <a:pt x="10692603" y="2686624"/>
                </a:lnTo>
                <a:lnTo>
                  <a:pt x="10853483" y="2671907"/>
                </a:lnTo>
                <a:lnTo>
                  <a:pt x="11011591" y="2656374"/>
                </a:lnTo>
                <a:lnTo>
                  <a:pt x="11167006" y="2640004"/>
                </a:lnTo>
                <a:lnTo>
                  <a:pt x="11319812" y="2622780"/>
                </a:lnTo>
                <a:lnTo>
                  <a:pt x="11470087" y="2604684"/>
                </a:lnTo>
                <a:lnTo>
                  <a:pt x="11617915" y="2585695"/>
                </a:lnTo>
                <a:lnTo>
                  <a:pt x="11763375" y="2565797"/>
                </a:lnTo>
                <a:lnTo>
                  <a:pt x="11906549" y="2544970"/>
                </a:lnTo>
                <a:lnTo>
                  <a:pt x="12047519" y="2523195"/>
                </a:lnTo>
                <a:lnTo>
                  <a:pt x="12186364" y="2500455"/>
                </a:lnTo>
                <a:lnTo>
                  <a:pt x="12323168" y="2476731"/>
                </a:lnTo>
                <a:lnTo>
                  <a:pt x="12458009" y="2452003"/>
                </a:lnTo>
                <a:lnTo>
                  <a:pt x="12590971" y="2426254"/>
                </a:lnTo>
                <a:lnTo>
                  <a:pt x="12722133" y="2399464"/>
                </a:lnTo>
                <a:lnTo>
                  <a:pt x="12851578" y="2371616"/>
                </a:lnTo>
                <a:lnTo>
                  <a:pt x="12979386" y="2342691"/>
                </a:lnTo>
                <a:lnTo>
                  <a:pt x="13105638" y="2312670"/>
                </a:lnTo>
                <a:lnTo>
                  <a:pt x="13230416" y="2281534"/>
                </a:lnTo>
                <a:lnTo>
                  <a:pt x="13353800" y="2249266"/>
                </a:lnTo>
                <a:lnTo>
                  <a:pt x="13475872" y="2215846"/>
                </a:lnTo>
                <a:lnTo>
                  <a:pt x="13596713" y="2181255"/>
                </a:lnTo>
                <a:lnTo>
                  <a:pt x="13716405" y="2145476"/>
                </a:lnTo>
                <a:lnTo>
                  <a:pt x="13835027" y="2108490"/>
                </a:lnTo>
                <a:lnTo>
                  <a:pt x="13952663" y="2070278"/>
                </a:lnTo>
                <a:lnTo>
                  <a:pt x="14069391" y="2030821"/>
                </a:lnTo>
                <a:lnTo>
                  <a:pt x="14185295" y="1990102"/>
                </a:lnTo>
                <a:lnTo>
                  <a:pt x="14300454" y="1948101"/>
                </a:lnTo>
                <a:lnTo>
                  <a:pt x="14414950" y="1904799"/>
                </a:lnTo>
                <a:lnTo>
                  <a:pt x="14528865" y="1860179"/>
                </a:lnTo>
                <a:lnTo>
                  <a:pt x="14642279" y="1814222"/>
                </a:lnTo>
                <a:lnTo>
                  <a:pt x="14755274" y="1766908"/>
                </a:lnTo>
                <a:lnTo>
                  <a:pt x="14867930" y="1718221"/>
                </a:lnTo>
                <a:lnTo>
                  <a:pt x="14980329" y="1668140"/>
                </a:lnTo>
                <a:lnTo>
                  <a:pt x="15092552" y="1616648"/>
                </a:lnTo>
                <a:lnTo>
                  <a:pt x="15204680" y="1563725"/>
                </a:lnTo>
                <a:lnTo>
                  <a:pt x="15316794" y="1509354"/>
                </a:lnTo>
                <a:lnTo>
                  <a:pt x="15428976" y="1453515"/>
                </a:lnTo>
                <a:lnTo>
                  <a:pt x="15541306" y="1396190"/>
                </a:lnTo>
                <a:lnTo>
                  <a:pt x="15653867" y="1337361"/>
                </a:lnTo>
                <a:lnTo>
                  <a:pt x="15766738" y="1277009"/>
                </a:lnTo>
                <a:lnTo>
                  <a:pt x="15880001" y="1215116"/>
                </a:lnTo>
                <a:lnTo>
                  <a:pt x="15993737" y="1151662"/>
                </a:lnTo>
                <a:lnTo>
                  <a:pt x="16108028" y="1086629"/>
                </a:lnTo>
                <a:lnTo>
                  <a:pt x="16222954" y="1019999"/>
                </a:lnTo>
                <a:lnTo>
                  <a:pt x="16338597" y="951753"/>
                </a:lnTo>
                <a:lnTo>
                  <a:pt x="16455037" y="881873"/>
                </a:lnTo>
                <a:lnTo>
                  <a:pt x="16572357" y="810339"/>
                </a:lnTo>
                <a:lnTo>
                  <a:pt x="16690637" y="737134"/>
                </a:lnTo>
                <a:lnTo>
                  <a:pt x="16809958" y="662239"/>
                </a:lnTo>
                <a:lnTo>
                  <a:pt x="16930401" y="585635"/>
                </a:lnTo>
                <a:lnTo>
                  <a:pt x="17052048" y="507303"/>
                </a:lnTo>
                <a:lnTo>
                  <a:pt x="17174980" y="427226"/>
                </a:lnTo>
                <a:lnTo>
                  <a:pt x="17299278" y="345384"/>
                </a:lnTo>
                <a:lnTo>
                  <a:pt x="17425022" y="261759"/>
                </a:lnTo>
                <a:lnTo>
                  <a:pt x="17552295" y="176333"/>
                </a:lnTo>
                <a:lnTo>
                  <a:pt x="17681177" y="89086"/>
                </a:lnTo>
                <a:lnTo>
                  <a:pt x="17811750" y="0"/>
                </a:lnTo>
              </a:path>
            </a:pathLst>
          </a:custGeom>
          <a:noFill/>
          <a:ln w="104775">
            <a:solidFill>
              <a:srgbClr val="318C76"/>
            </a:solidFill>
          </a:ln>
        </p:spPr>
        <p:txBody>
          <a:bodyPr/>
          <a:lstStyle/>
          <a:p>
            <a:endParaRPr lang="de-DE"/>
          </a:p>
        </p:txBody>
      </p:sp>
      <p:sp>
        <p:nvSpPr>
          <p:cNvPr id="3" name="path-2">
            <a:extLst>
              <a:ext uri="{FF2B5EF4-FFF2-40B4-BE49-F238E27FC236}">
                <a16:creationId xmlns:a16="http://schemas.microsoft.com/office/drawing/2014/main" id="{E75AC910-C5AE-4074-968E-F61355883BB5}"/>
              </a:ext>
            </a:extLst>
          </p:cNvPr>
          <p:cNvSpPr>
            <a:spLocks noGrp="1"/>
          </p:cNvSpPr>
          <p:nvPr/>
        </p:nvSpPr>
        <p:spPr>
          <a:xfrm>
            <a:off x="20955000" y="7000875"/>
            <a:ext cx="10191750" cy="952500"/>
          </a:xfrm>
          <a:custGeom>
            <a:avLst/>
            <a:gdLst/>
            <a:ahLst/>
            <a:cxnLst/>
            <a:rect l="0" t="0" r="0" b="0"/>
            <a:pathLst>
              <a:path w="10191750" h="952500">
                <a:moveTo>
                  <a:pt x="0" y="952500"/>
                </a:moveTo>
                <a:lnTo>
                  <a:pt x="54552" y="924210"/>
                </a:lnTo>
                <a:lnTo>
                  <a:pt x="109631" y="896485"/>
                </a:lnTo>
                <a:lnTo>
                  <a:pt x="165251" y="869321"/>
                </a:lnTo>
                <a:lnTo>
                  <a:pt x="221425" y="842711"/>
                </a:lnTo>
                <a:lnTo>
                  <a:pt x="278166" y="816650"/>
                </a:lnTo>
                <a:lnTo>
                  <a:pt x="335487" y="791131"/>
                </a:lnTo>
                <a:lnTo>
                  <a:pt x="393401" y="766150"/>
                </a:lnTo>
                <a:lnTo>
                  <a:pt x="451921" y="741700"/>
                </a:lnTo>
                <a:lnTo>
                  <a:pt x="511061" y="717776"/>
                </a:lnTo>
                <a:lnTo>
                  <a:pt x="570833" y="694373"/>
                </a:lnTo>
                <a:lnTo>
                  <a:pt x="631252" y="671483"/>
                </a:lnTo>
                <a:lnTo>
                  <a:pt x="692329" y="649102"/>
                </a:lnTo>
                <a:lnTo>
                  <a:pt x="754078" y="627224"/>
                </a:lnTo>
                <a:lnTo>
                  <a:pt x="816513" y="605843"/>
                </a:lnTo>
                <a:lnTo>
                  <a:pt x="879646" y="584954"/>
                </a:lnTo>
                <a:lnTo>
                  <a:pt x="943490" y="564551"/>
                </a:lnTo>
                <a:lnTo>
                  <a:pt x="1008059" y="544627"/>
                </a:lnTo>
                <a:lnTo>
                  <a:pt x="1073366" y="525178"/>
                </a:lnTo>
                <a:lnTo>
                  <a:pt x="1139424" y="506198"/>
                </a:lnTo>
                <a:lnTo>
                  <a:pt x="1206246" y="487680"/>
                </a:lnTo>
                <a:lnTo>
                  <a:pt x="1273845" y="469620"/>
                </a:lnTo>
                <a:lnTo>
                  <a:pt x="1342235" y="452011"/>
                </a:lnTo>
                <a:lnTo>
                  <a:pt x="1411428" y="434848"/>
                </a:lnTo>
                <a:lnTo>
                  <a:pt x="1481438" y="418125"/>
                </a:lnTo>
                <a:lnTo>
                  <a:pt x="1552277" y="401836"/>
                </a:lnTo>
                <a:lnTo>
                  <a:pt x="1623960" y="385976"/>
                </a:lnTo>
                <a:lnTo>
                  <a:pt x="1696499" y="370539"/>
                </a:lnTo>
                <a:lnTo>
                  <a:pt x="1769907" y="355519"/>
                </a:lnTo>
                <a:lnTo>
                  <a:pt x="1844197" y="340910"/>
                </a:lnTo>
                <a:lnTo>
                  <a:pt x="1919383" y="326707"/>
                </a:lnTo>
                <a:lnTo>
                  <a:pt x="1995477" y="312905"/>
                </a:lnTo>
                <a:lnTo>
                  <a:pt x="2072494" y="299496"/>
                </a:lnTo>
                <a:lnTo>
                  <a:pt x="2150445" y="286477"/>
                </a:lnTo>
                <a:lnTo>
                  <a:pt x="2229345" y="273840"/>
                </a:lnTo>
                <a:lnTo>
                  <a:pt x="2309205" y="261580"/>
                </a:lnTo>
                <a:lnTo>
                  <a:pt x="2390040" y="249692"/>
                </a:lnTo>
                <a:lnTo>
                  <a:pt x="2471863" y="238170"/>
                </a:lnTo>
                <a:lnTo>
                  <a:pt x="2554687" y="227007"/>
                </a:lnTo>
                <a:lnTo>
                  <a:pt x="2638524" y="216199"/>
                </a:lnTo>
                <a:lnTo>
                  <a:pt x="2723388" y="205740"/>
                </a:lnTo>
                <a:lnTo>
                  <a:pt x="2809292" y="195623"/>
                </a:lnTo>
                <a:lnTo>
                  <a:pt x="2896250" y="185844"/>
                </a:lnTo>
                <a:lnTo>
                  <a:pt x="2984274" y="176396"/>
                </a:lnTo>
                <a:lnTo>
                  <a:pt x="3073378" y="167274"/>
                </a:lnTo>
                <a:lnTo>
                  <a:pt x="3163574" y="158472"/>
                </a:lnTo>
                <a:lnTo>
                  <a:pt x="3254876" y="149984"/>
                </a:lnTo>
                <a:lnTo>
                  <a:pt x="3347297" y="141805"/>
                </a:lnTo>
                <a:lnTo>
                  <a:pt x="3440851" y="133929"/>
                </a:lnTo>
                <a:lnTo>
                  <a:pt x="3535549" y="126350"/>
                </a:lnTo>
                <a:lnTo>
                  <a:pt x="3631406" y="119063"/>
                </a:lnTo>
                <a:lnTo>
                  <a:pt x="3728435" y="112061"/>
                </a:lnTo>
                <a:lnTo>
                  <a:pt x="3826648" y="105339"/>
                </a:lnTo>
                <a:lnTo>
                  <a:pt x="3926059" y="98891"/>
                </a:lnTo>
                <a:lnTo>
                  <a:pt x="4026682" y="92713"/>
                </a:lnTo>
                <a:lnTo>
                  <a:pt x="4128528" y="86797"/>
                </a:lnTo>
                <a:lnTo>
                  <a:pt x="4231612" y="81138"/>
                </a:lnTo>
                <a:lnTo>
                  <a:pt x="4335946" y="75730"/>
                </a:lnTo>
                <a:lnTo>
                  <a:pt x="4441543" y="70569"/>
                </a:lnTo>
                <a:lnTo>
                  <a:pt x="4548418" y="65647"/>
                </a:lnTo>
                <a:lnTo>
                  <a:pt x="4656582" y="60960"/>
                </a:lnTo>
                <a:lnTo>
                  <a:pt x="4766049" y="56501"/>
                </a:lnTo>
                <a:lnTo>
                  <a:pt x="4876833" y="52266"/>
                </a:lnTo>
                <a:lnTo>
                  <a:pt x="4988946" y="48247"/>
                </a:lnTo>
                <a:lnTo>
                  <a:pt x="5102401" y="44440"/>
                </a:lnTo>
                <a:lnTo>
                  <a:pt x="5217212" y="40838"/>
                </a:lnTo>
                <a:lnTo>
                  <a:pt x="5333391" y="37437"/>
                </a:lnTo>
                <a:lnTo>
                  <a:pt x="5450953" y="34230"/>
                </a:lnTo>
                <a:lnTo>
                  <a:pt x="5569909" y="31212"/>
                </a:lnTo>
                <a:lnTo>
                  <a:pt x="5690274" y="28376"/>
                </a:lnTo>
                <a:lnTo>
                  <a:pt x="5812060" y="25717"/>
                </a:lnTo>
                <a:lnTo>
                  <a:pt x="5935280" y="23231"/>
                </a:lnTo>
                <a:lnTo>
                  <a:pt x="6059948" y="20909"/>
                </a:lnTo>
                <a:lnTo>
                  <a:pt x="6186077" y="18748"/>
                </a:lnTo>
                <a:lnTo>
                  <a:pt x="6313680" y="16741"/>
                </a:lnTo>
                <a:lnTo>
                  <a:pt x="6442770" y="14883"/>
                </a:lnTo>
                <a:lnTo>
                  <a:pt x="6573359" y="13167"/>
                </a:lnTo>
                <a:lnTo>
                  <a:pt x="6705463" y="11589"/>
                </a:lnTo>
                <a:lnTo>
                  <a:pt x="6839092" y="10142"/>
                </a:lnTo>
                <a:lnTo>
                  <a:pt x="6974262" y="8821"/>
                </a:lnTo>
                <a:lnTo>
                  <a:pt x="7110984" y="7620"/>
                </a:lnTo>
                <a:lnTo>
                  <a:pt x="7249272" y="6533"/>
                </a:lnTo>
                <a:lnTo>
                  <a:pt x="7389139" y="5555"/>
                </a:lnTo>
                <a:lnTo>
                  <a:pt x="7530598" y="4680"/>
                </a:lnTo>
                <a:lnTo>
                  <a:pt x="7673663" y="3901"/>
                </a:lnTo>
                <a:lnTo>
                  <a:pt x="7818346" y="3215"/>
                </a:lnTo>
                <a:lnTo>
                  <a:pt x="7964661" y="2614"/>
                </a:lnTo>
                <a:lnTo>
                  <a:pt x="8112621" y="2093"/>
                </a:lnTo>
                <a:lnTo>
                  <a:pt x="8262238" y="1646"/>
                </a:lnTo>
                <a:lnTo>
                  <a:pt x="8413527" y="1268"/>
                </a:lnTo>
                <a:lnTo>
                  <a:pt x="8566499" y="953"/>
                </a:lnTo>
                <a:lnTo>
                  <a:pt x="8721169" y="694"/>
                </a:lnTo>
                <a:lnTo>
                  <a:pt x="8877550" y="488"/>
                </a:lnTo>
                <a:lnTo>
                  <a:pt x="9035654" y="327"/>
                </a:lnTo>
                <a:lnTo>
                  <a:pt x="9195495" y="206"/>
                </a:lnTo>
                <a:lnTo>
                  <a:pt x="9357086" y="119"/>
                </a:lnTo>
                <a:lnTo>
                  <a:pt x="9520440" y="61"/>
                </a:lnTo>
                <a:lnTo>
                  <a:pt x="9685570" y="26"/>
                </a:lnTo>
                <a:lnTo>
                  <a:pt x="9852490" y="8"/>
                </a:lnTo>
                <a:lnTo>
                  <a:pt x="10021212" y="1"/>
                </a:lnTo>
                <a:lnTo>
                  <a:pt x="10191750" y="0"/>
                </a:lnTo>
              </a:path>
            </a:pathLst>
          </a:custGeom>
          <a:noFill/>
          <a:ln w="104775">
            <a:solidFill>
              <a:srgbClr val="318C76"/>
            </a:solidFill>
          </a:ln>
        </p:spPr>
        <p:txBody>
          <a:bodyPr/>
          <a:lstStyle/>
          <a:p>
            <a:endParaRPr lang="de-DE"/>
          </a:p>
        </p:txBody>
      </p:sp>
      <p:sp>
        <p:nvSpPr>
          <p:cNvPr id="4" name="path-3">
            <a:extLst>
              <a:ext uri="{FF2B5EF4-FFF2-40B4-BE49-F238E27FC236}">
                <a16:creationId xmlns:a16="http://schemas.microsoft.com/office/drawing/2014/main" id="{A49BABF0-24D1-4270-8E3B-6E1E3DD822DB}"/>
              </a:ext>
            </a:extLst>
          </p:cNvPr>
          <p:cNvSpPr>
            <a:spLocks noGrp="1"/>
          </p:cNvSpPr>
          <p:nvPr/>
        </p:nvSpPr>
        <p:spPr>
          <a:xfrm>
            <a:off x="9810750" y="7277100"/>
            <a:ext cx="16097250" cy="7975438"/>
          </a:xfrm>
          <a:custGeom>
            <a:avLst/>
            <a:gdLst/>
            <a:ahLst/>
            <a:cxnLst/>
            <a:rect l="0" t="0" r="0" b="0"/>
            <a:pathLst>
              <a:path w="16097250" h="7975438">
                <a:moveTo>
                  <a:pt x="0" y="7962900"/>
                </a:moveTo>
                <a:lnTo>
                  <a:pt x="390125" y="7971732"/>
                </a:lnTo>
                <a:lnTo>
                  <a:pt x="771905" y="7975438"/>
                </a:lnTo>
                <a:lnTo>
                  <a:pt x="1145455" y="7974119"/>
                </a:lnTo>
                <a:lnTo>
                  <a:pt x="1510888" y="7967877"/>
                </a:lnTo>
                <a:lnTo>
                  <a:pt x="1868317" y="7956815"/>
                </a:lnTo>
                <a:lnTo>
                  <a:pt x="2217857" y="7941035"/>
                </a:lnTo>
                <a:lnTo>
                  <a:pt x="2559621" y="7920639"/>
                </a:lnTo>
                <a:lnTo>
                  <a:pt x="2893722" y="7895729"/>
                </a:lnTo>
                <a:lnTo>
                  <a:pt x="3220276" y="7866409"/>
                </a:lnTo>
                <a:lnTo>
                  <a:pt x="3539395" y="7832779"/>
                </a:lnTo>
                <a:lnTo>
                  <a:pt x="3851193" y="7794942"/>
                </a:lnTo>
                <a:lnTo>
                  <a:pt x="4155783" y="7753001"/>
                </a:lnTo>
                <a:lnTo>
                  <a:pt x="4453281" y="7707058"/>
                </a:lnTo>
                <a:lnTo>
                  <a:pt x="4743798" y="7657214"/>
                </a:lnTo>
                <a:lnTo>
                  <a:pt x="5027450" y="7603573"/>
                </a:lnTo>
                <a:lnTo>
                  <a:pt x="5304349" y="7546236"/>
                </a:lnTo>
                <a:lnTo>
                  <a:pt x="5574610" y="7485306"/>
                </a:lnTo>
                <a:lnTo>
                  <a:pt x="5838346" y="7420884"/>
                </a:lnTo>
                <a:lnTo>
                  <a:pt x="6095671" y="7353074"/>
                </a:lnTo>
                <a:lnTo>
                  <a:pt x="6346698" y="7281977"/>
                </a:lnTo>
                <a:lnTo>
                  <a:pt x="6591542" y="7207695"/>
                </a:lnTo>
                <a:lnTo>
                  <a:pt x="6830316" y="7130332"/>
                </a:lnTo>
                <a:lnTo>
                  <a:pt x="7063134" y="7049988"/>
                </a:lnTo>
                <a:lnTo>
                  <a:pt x="7290109" y="6966767"/>
                </a:lnTo>
                <a:lnTo>
                  <a:pt x="7511355" y="6880771"/>
                </a:lnTo>
                <a:lnTo>
                  <a:pt x="7726987" y="6792101"/>
                </a:lnTo>
                <a:lnTo>
                  <a:pt x="7937117" y="6700860"/>
                </a:lnTo>
                <a:lnTo>
                  <a:pt x="8141860" y="6607151"/>
                </a:lnTo>
                <a:lnTo>
                  <a:pt x="8341329" y="6511075"/>
                </a:lnTo>
                <a:lnTo>
                  <a:pt x="8535638" y="6412735"/>
                </a:lnTo>
                <a:lnTo>
                  <a:pt x="8724901" y="6312233"/>
                </a:lnTo>
                <a:lnTo>
                  <a:pt x="8909231" y="6209671"/>
                </a:lnTo>
                <a:lnTo>
                  <a:pt x="9088742" y="6105152"/>
                </a:lnTo>
                <a:lnTo>
                  <a:pt x="9263548" y="5998777"/>
                </a:lnTo>
                <a:lnTo>
                  <a:pt x="9433762" y="5890649"/>
                </a:lnTo>
                <a:lnTo>
                  <a:pt x="9599499" y="5780871"/>
                </a:lnTo>
                <a:lnTo>
                  <a:pt x="9760872" y="5669544"/>
                </a:lnTo>
                <a:lnTo>
                  <a:pt x="9917995" y="5556771"/>
                </a:lnTo>
                <a:lnTo>
                  <a:pt x="10070981" y="5442653"/>
                </a:lnTo>
                <a:lnTo>
                  <a:pt x="10219944" y="5327294"/>
                </a:lnTo>
                <a:lnTo>
                  <a:pt x="10364998" y="5210796"/>
                </a:lnTo>
                <a:lnTo>
                  <a:pt x="10506257" y="5093260"/>
                </a:lnTo>
                <a:lnTo>
                  <a:pt x="10643834" y="4974789"/>
                </a:lnTo>
                <a:lnTo>
                  <a:pt x="10777844" y="4855485"/>
                </a:lnTo>
                <a:lnTo>
                  <a:pt x="10908399" y="4735450"/>
                </a:lnTo>
                <a:lnTo>
                  <a:pt x="11035614" y="4614787"/>
                </a:lnTo>
                <a:lnTo>
                  <a:pt x="11159602" y="4493598"/>
                </a:lnTo>
                <a:lnTo>
                  <a:pt x="11280477" y="4371985"/>
                </a:lnTo>
                <a:lnTo>
                  <a:pt x="11398353" y="4250051"/>
                </a:lnTo>
                <a:lnTo>
                  <a:pt x="11513344" y="4127897"/>
                </a:lnTo>
                <a:lnTo>
                  <a:pt x="11625562" y="4005626"/>
                </a:lnTo>
                <a:lnTo>
                  <a:pt x="11735123" y="3883340"/>
                </a:lnTo>
                <a:lnTo>
                  <a:pt x="11842139" y="3761141"/>
                </a:lnTo>
                <a:lnTo>
                  <a:pt x="11946725" y="3639132"/>
                </a:lnTo>
                <a:lnTo>
                  <a:pt x="12048994" y="3517415"/>
                </a:lnTo>
                <a:lnTo>
                  <a:pt x="12149060" y="3396091"/>
                </a:lnTo>
                <a:lnTo>
                  <a:pt x="12247036" y="3275264"/>
                </a:lnTo>
                <a:lnTo>
                  <a:pt x="12343037" y="3155036"/>
                </a:lnTo>
                <a:lnTo>
                  <a:pt x="12437176" y="3035508"/>
                </a:lnTo>
                <a:lnTo>
                  <a:pt x="12529566" y="2916784"/>
                </a:lnTo>
                <a:lnTo>
                  <a:pt x="12620322" y="2798964"/>
                </a:lnTo>
                <a:lnTo>
                  <a:pt x="12709557" y="2682152"/>
                </a:lnTo>
                <a:lnTo>
                  <a:pt x="12797385" y="2566450"/>
                </a:lnTo>
                <a:lnTo>
                  <a:pt x="12883920" y="2451960"/>
                </a:lnTo>
                <a:lnTo>
                  <a:pt x="12969276" y="2338784"/>
                </a:lnTo>
                <a:lnTo>
                  <a:pt x="13053565" y="2227024"/>
                </a:lnTo>
                <a:lnTo>
                  <a:pt x="13136903" y="2116784"/>
                </a:lnTo>
                <a:lnTo>
                  <a:pt x="13219402" y="2008164"/>
                </a:lnTo>
                <a:lnTo>
                  <a:pt x="13301176" y="1901267"/>
                </a:lnTo>
                <a:lnTo>
                  <a:pt x="13382339" y="1796196"/>
                </a:lnTo>
                <a:lnTo>
                  <a:pt x="13463005" y="1693052"/>
                </a:lnTo>
                <a:lnTo>
                  <a:pt x="13543288" y="1591939"/>
                </a:lnTo>
                <a:lnTo>
                  <a:pt x="13623301" y="1492957"/>
                </a:lnTo>
                <a:lnTo>
                  <a:pt x="13703158" y="1396210"/>
                </a:lnTo>
                <a:lnTo>
                  <a:pt x="13782973" y="1301800"/>
                </a:lnTo>
                <a:lnTo>
                  <a:pt x="13862859" y="1209828"/>
                </a:lnTo>
                <a:lnTo>
                  <a:pt x="13942930" y="1120398"/>
                </a:lnTo>
                <a:lnTo>
                  <a:pt x="14023300" y="1033610"/>
                </a:lnTo>
                <a:lnTo>
                  <a:pt x="14104083" y="949569"/>
                </a:lnTo>
                <a:lnTo>
                  <a:pt x="14185392" y="868375"/>
                </a:lnTo>
                <a:lnTo>
                  <a:pt x="14267341" y="790132"/>
                </a:lnTo>
                <a:lnTo>
                  <a:pt x="14350044" y="714940"/>
                </a:lnTo>
                <a:lnTo>
                  <a:pt x="14433615" y="642904"/>
                </a:lnTo>
                <a:lnTo>
                  <a:pt x="14518167" y="574124"/>
                </a:lnTo>
                <a:lnTo>
                  <a:pt x="14603813" y="508703"/>
                </a:lnTo>
                <a:lnTo>
                  <a:pt x="14690669" y="446743"/>
                </a:lnTo>
                <a:lnTo>
                  <a:pt x="14778847" y="388347"/>
                </a:lnTo>
                <a:lnTo>
                  <a:pt x="14868461" y="333617"/>
                </a:lnTo>
                <a:lnTo>
                  <a:pt x="14959625" y="282655"/>
                </a:lnTo>
                <a:lnTo>
                  <a:pt x="15052453" y="235563"/>
                </a:lnTo>
                <a:lnTo>
                  <a:pt x="15147058" y="192443"/>
                </a:lnTo>
                <a:lnTo>
                  <a:pt x="15243554" y="153399"/>
                </a:lnTo>
                <a:lnTo>
                  <a:pt x="15342055" y="118531"/>
                </a:lnTo>
                <a:lnTo>
                  <a:pt x="15442674" y="87942"/>
                </a:lnTo>
                <a:lnTo>
                  <a:pt x="15545526" y="61735"/>
                </a:lnTo>
                <a:lnTo>
                  <a:pt x="15650724" y="40012"/>
                </a:lnTo>
                <a:lnTo>
                  <a:pt x="15758382" y="22874"/>
                </a:lnTo>
                <a:lnTo>
                  <a:pt x="15868613" y="10425"/>
                </a:lnTo>
                <a:lnTo>
                  <a:pt x="15981531" y="2766"/>
                </a:lnTo>
                <a:lnTo>
                  <a:pt x="16097250" y="0"/>
                </a:lnTo>
              </a:path>
            </a:pathLst>
          </a:custGeom>
          <a:noFill/>
          <a:ln w="104775">
            <a:solidFill>
              <a:srgbClr val="B79728"/>
            </a:solidFill>
          </a:ln>
        </p:spPr>
        <p:txBody>
          <a:bodyPr/>
          <a:lstStyle/>
          <a:p>
            <a:endParaRPr lang="de-DE"/>
          </a:p>
        </p:txBody>
      </p:sp>
      <p:sp>
        <p:nvSpPr>
          <p:cNvPr id="5" name="path-4">
            <a:extLst>
              <a:ext uri="{FF2B5EF4-FFF2-40B4-BE49-F238E27FC236}">
                <a16:creationId xmlns:a16="http://schemas.microsoft.com/office/drawing/2014/main" id="{B2762A15-ADE6-4268-9882-DFFF5B82B712}"/>
              </a:ext>
            </a:extLst>
          </p:cNvPr>
          <p:cNvSpPr>
            <a:spLocks noGrp="1"/>
          </p:cNvSpPr>
          <p:nvPr/>
        </p:nvSpPr>
        <p:spPr>
          <a:xfrm>
            <a:off x="25908000" y="7239000"/>
            <a:ext cx="5238750" cy="38100"/>
          </a:xfrm>
          <a:custGeom>
            <a:avLst/>
            <a:gdLst/>
            <a:ahLst/>
            <a:cxnLst/>
            <a:rect l="0" t="0" r="0" b="0"/>
            <a:pathLst>
              <a:path w="5238750" h="38100">
                <a:moveTo>
                  <a:pt x="0" y="38100"/>
                </a:moveTo>
                <a:lnTo>
                  <a:pt x="51492" y="36968"/>
                </a:lnTo>
                <a:lnTo>
                  <a:pt x="103095" y="35859"/>
                </a:lnTo>
                <a:lnTo>
                  <a:pt x="154806" y="34773"/>
                </a:lnTo>
                <a:lnTo>
                  <a:pt x="206624" y="33708"/>
                </a:lnTo>
                <a:lnTo>
                  <a:pt x="258544" y="32666"/>
                </a:lnTo>
                <a:lnTo>
                  <a:pt x="310565" y="31645"/>
                </a:lnTo>
                <a:lnTo>
                  <a:pt x="362682" y="30646"/>
                </a:lnTo>
                <a:lnTo>
                  <a:pt x="414894" y="29668"/>
                </a:lnTo>
                <a:lnTo>
                  <a:pt x="467197" y="28711"/>
                </a:lnTo>
                <a:lnTo>
                  <a:pt x="519589" y="27775"/>
                </a:lnTo>
                <a:lnTo>
                  <a:pt x="572066" y="26859"/>
                </a:lnTo>
                <a:lnTo>
                  <a:pt x="624627" y="25964"/>
                </a:lnTo>
                <a:lnTo>
                  <a:pt x="677267" y="25089"/>
                </a:lnTo>
                <a:lnTo>
                  <a:pt x="729985" y="24234"/>
                </a:lnTo>
                <a:lnTo>
                  <a:pt x="782776" y="23398"/>
                </a:lnTo>
                <a:lnTo>
                  <a:pt x="835640" y="22582"/>
                </a:lnTo>
                <a:lnTo>
                  <a:pt x="888572" y="21785"/>
                </a:lnTo>
                <a:lnTo>
                  <a:pt x="941569" y="21007"/>
                </a:lnTo>
                <a:lnTo>
                  <a:pt x="994630" y="20248"/>
                </a:lnTo>
                <a:lnTo>
                  <a:pt x="1047750" y="19507"/>
                </a:lnTo>
                <a:lnTo>
                  <a:pt x="1100928" y="18785"/>
                </a:lnTo>
                <a:lnTo>
                  <a:pt x="1154159" y="18080"/>
                </a:lnTo>
                <a:lnTo>
                  <a:pt x="1207443" y="17394"/>
                </a:lnTo>
                <a:lnTo>
                  <a:pt x="1260775" y="16725"/>
                </a:lnTo>
                <a:lnTo>
                  <a:pt x="1314152" y="16073"/>
                </a:lnTo>
                <a:lnTo>
                  <a:pt x="1367573" y="15439"/>
                </a:lnTo>
                <a:lnTo>
                  <a:pt x="1421033" y="14822"/>
                </a:lnTo>
                <a:lnTo>
                  <a:pt x="1474531" y="14221"/>
                </a:lnTo>
                <a:lnTo>
                  <a:pt x="1528063" y="13636"/>
                </a:lnTo>
                <a:lnTo>
                  <a:pt x="1581626" y="13068"/>
                </a:lnTo>
                <a:lnTo>
                  <a:pt x="1635218" y="12516"/>
                </a:lnTo>
                <a:lnTo>
                  <a:pt x="1688836" y="11980"/>
                </a:lnTo>
                <a:lnTo>
                  <a:pt x="1742476" y="11459"/>
                </a:lnTo>
                <a:lnTo>
                  <a:pt x="1796137" y="10954"/>
                </a:lnTo>
                <a:lnTo>
                  <a:pt x="1849815" y="10463"/>
                </a:lnTo>
                <a:lnTo>
                  <a:pt x="1903506" y="9988"/>
                </a:lnTo>
                <a:lnTo>
                  <a:pt x="1957210" y="9527"/>
                </a:lnTo>
                <a:lnTo>
                  <a:pt x="2010922" y="9080"/>
                </a:lnTo>
                <a:lnTo>
                  <a:pt x="2064639" y="8648"/>
                </a:lnTo>
                <a:lnTo>
                  <a:pt x="2118360" y="8230"/>
                </a:lnTo>
                <a:lnTo>
                  <a:pt x="2172081" y="7825"/>
                </a:lnTo>
                <a:lnTo>
                  <a:pt x="2225798" y="7434"/>
                </a:lnTo>
                <a:lnTo>
                  <a:pt x="2279510" y="7056"/>
                </a:lnTo>
                <a:lnTo>
                  <a:pt x="2333214" y="6691"/>
                </a:lnTo>
                <a:lnTo>
                  <a:pt x="2386905" y="6339"/>
                </a:lnTo>
                <a:lnTo>
                  <a:pt x="2440583" y="5999"/>
                </a:lnTo>
                <a:lnTo>
                  <a:pt x="2494244" y="5672"/>
                </a:lnTo>
                <a:lnTo>
                  <a:pt x="2547884" y="5357"/>
                </a:lnTo>
                <a:lnTo>
                  <a:pt x="2601502" y="5054"/>
                </a:lnTo>
                <a:lnTo>
                  <a:pt x="2655094" y="4763"/>
                </a:lnTo>
                <a:lnTo>
                  <a:pt x="2708657" y="4482"/>
                </a:lnTo>
                <a:lnTo>
                  <a:pt x="2762189" y="4214"/>
                </a:lnTo>
                <a:lnTo>
                  <a:pt x="2815687" y="3956"/>
                </a:lnTo>
                <a:lnTo>
                  <a:pt x="2869147" y="3709"/>
                </a:lnTo>
                <a:lnTo>
                  <a:pt x="2922568" y="3472"/>
                </a:lnTo>
                <a:lnTo>
                  <a:pt x="2975945" y="3246"/>
                </a:lnTo>
                <a:lnTo>
                  <a:pt x="3029277" y="3029"/>
                </a:lnTo>
                <a:lnTo>
                  <a:pt x="3082561" y="2823"/>
                </a:lnTo>
                <a:lnTo>
                  <a:pt x="3135792" y="2626"/>
                </a:lnTo>
                <a:lnTo>
                  <a:pt x="3188970" y="2438"/>
                </a:lnTo>
                <a:lnTo>
                  <a:pt x="3242090" y="2260"/>
                </a:lnTo>
                <a:lnTo>
                  <a:pt x="3295151" y="2091"/>
                </a:lnTo>
                <a:lnTo>
                  <a:pt x="3348148" y="1930"/>
                </a:lnTo>
                <a:lnTo>
                  <a:pt x="3401080" y="1778"/>
                </a:lnTo>
                <a:lnTo>
                  <a:pt x="3453944" y="1634"/>
                </a:lnTo>
                <a:lnTo>
                  <a:pt x="3506735" y="1497"/>
                </a:lnTo>
                <a:lnTo>
                  <a:pt x="3559453" y="1369"/>
                </a:lnTo>
                <a:lnTo>
                  <a:pt x="3612093" y="1248"/>
                </a:lnTo>
                <a:lnTo>
                  <a:pt x="3664654" y="1135"/>
                </a:lnTo>
                <a:lnTo>
                  <a:pt x="3717131" y="1029"/>
                </a:lnTo>
                <a:lnTo>
                  <a:pt x="3769523" y="929"/>
                </a:lnTo>
                <a:lnTo>
                  <a:pt x="3821826" y="836"/>
                </a:lnTo>
                <a:lnTo>
                  <a:pt x="3874038" y="750"/>
                </a:lnTo>
                <a:lnTo>
                  <a:pt x="3926155" y="670"/>
                </a:lnTo>
                <a:lnTo>
                  <a:pt x="3978176" y="595"/>
                </a:lnTo>
                <a:lnTo>
                  <a:pt x="4030096" y="527"/>
                </a:lnTo>
                <a:lnTo>
                  <a:pt x="4081914" y="464"/>
                </a:lnTo>
                <a:lnTo>
                  <a:pt x="4133625" y="406"/>
                </a:lnTo>
                <a:lnTo>
                  <a:pt x="4185228" y="353"/>
                </a:lnTo>
                <a:lnTo>
                  <a:pt x="4236720" y="305"/>
                </a:lnTo>
                <a:lnTo>
                  <a:pt x="4288097" y="261"/>
                </a:lnTo>
                <a:lnTo>
                  <a:pt x="4339358" y="222"/>
                </a:lnTo>
                <a:lnTo>
                  <a:pt x="4390498" y="187"/>
                </a:lnTo>
                <a:lnTo>
                  <a:pt x="4441515" y="156"/>
                </a:lnTo>
                <a:lnTo>
                  <a:pt x="4492407" y="129"/>
                </a:lnTo>
                <a:lnTo>
                  <a:pt x="4543170" y="105"/>
                </a:lnTo>
                <a:lnTo>
                  <a:pt x="4593801" y="84"/>
                </a:lnTo>
                <a:lnTo>
                  <a:pt x="4644299" y="66"/>
                </a:lnTo>
                <a:lnTo>
                  <a:pt x="4694659" y="51"/>
                </a:lnTo>
                <a:lnTo>
                  <a:pt x="4744879" y="38"/>
                </a:lnTo>
                <a:lnTo>
                  <a:pt x="4794956" y="28"/>
                </a:lnTo>
                <a:lnTo>
                  <a:pt x="4844887" y="20"/>
                </a:lnTo>
                <a:lnTo>
                  <a:pt x="4894670" y="13"/>
                </a:lnTo>
                <a:lnTo>
                  <a:pt x="4944302" y="8"/>
                </a:lnTo>
                <a:lnTo>
                  <a:pt x="4993779" y="5"/>
                </a:lnTo>
                <a:lnTo>
                  <a:pt x="5043099" y="2"/>
                </a:lnTo>
                <a:lnTo>
                  <a:pt x="5092259" y="1"/>
                </a:lnTo>
                <a:lnTo>
                  <a:pt x="5141256" y="0"/>
                </a:lnTo>
                <a:lnTo>
                  <a:pt x="5190087" y="0"/>
                </a:lnTo>
                <a:lnTo>
                  <a:pt x="5238750" y="0"/>
                </a:lnTo>
              </a:path>
            </a:pathLst>
          </a:custGeom>
          <a:noFill/>
          <a:ln w="104775">
            <a:solidFill>
              <a:srgbClr val="B79728"/>
            </a:solidFill>
          </a:ln>
        </p:spPr>
        <p:txBody>
          <a:bodyPr/>
          <a:lstStyle/>
          <a:p>
            <a:endParaRPr lang="de-DE"/>
          </a:p>
        </p:txBody>
      </p:sp>
      <p:sp>
        <p:nvSpPr>
          <p:cNvPr id="6" name="path-5">
            <a:extLst>
              <a:ext uri="{FF2B5EF4-FFF2-40B4-BE49-F238E27FC236}">
                <a16:creationId xmlns:a16="http://schemas.microsoft.com/office/drawing/2014/main" id="{F3860A6B-4432-4263-8FD7-878AC06F83C9}"/>
              </a:ext>
            </a:extLst>
          </p:cNvPr>
          <p:cNvSpPr>
            <a:spLocks noGrp="1"/>
          </p:cNvSpPr>
          <p:nvPr/>
        </p:nvSpPr>
        <p:spPr>
          <a:xfrm>
            <a:off x="31127700" y="6648450"/>
            <a:ext cx="352425" cy="228600"/>
          </a:xfrm>
          <a:custGeom>
            <a:avLst/>
            <a:gdLst/>
            <a:ahLst/>
            <a:cxnLst/>
            <a:rect l="0" t="0" r="0" b="0"/>
            <a:pathLst>
              <a:path w="352425" h="228600">
                <a:moveTo>
                  <a:pt x="0" y="0"/>
                </a:moveTo>
                <a:lnTo>
                  <a:pt x="352425" y="114300"/>
                </a:lnTo>
                <a:lnTo>
                  <a:pt x="0" y="228600"/>
                </a:lnTo>
                <a:lnTo>
                  <a:pt x="0" y="0"/>
                </a:lnTo>
              </a:path>
            </a:pathLst>
          </a:custGeom>
          <a:solidFill>
            <a:srgbClr val="3987BB"/>
          </a:solidFill>
          <a:ln w="9525">
            <a:solidFill>
              <a:srgbClr val="3987BB"/>
            </a:solidFill>
          </a:ln>
        </p:spPr>
        <p:txBody>
          <a:bodyPr/>
          <a:lstStyle/>
          <a:p>
            <a:endParaRPr lang="de-DE"/>
          </a:p>
        </p:txBody>
      </p:sp>
      <p:sp>
        <p:nvSpPr>
          <p:cNvPr id="7" name="path-6">
            <a:extLst>
              <a:ext uri="{FF2B5EF4-FFF2-40B4-BE49-F238E27FC236}">
                <a16:creationId xmlns:a16="http://schemas.microsoft.com/office/drawing/2014/main" id="{DED57922-290B-42D6-B8A8-987AF5FA9027}"/>
              </a:ext>
            </a:extLst>
          </p:cNvPr>
          <p:cNvSpPr>
            <a:spLocks noGrp="1"/>
          </p:cNvSpPr>
          <p:nvPr/>
        </p:nvSpPr>
        <p:spPr>
          <a:xfrm>
            <a:off x="31127700" y="6886575"/>
            <a:ext cx="352425" cy="228600"/>
          </a:xfrm>
          <a:custGeom>
            <a:avLst/>
            <a:gdLst/>
            <a:ahLst/>
            <a:cxnLst/>
            <a:rect l="0" t="0" r="0" b="0"/>
            <a:pathLst>
              <a:path w="352425" h="228600">
                <a:moveTo>
                  <a:pt x="0" y="0"/>
                </a:moveTo>
                <a:lnTo>
                  <a:pt x="352425" y="114300"/>
                </a:lnTo>
                <a:lnTo>
                  <a:pt x="0" y="228600"/>
                </a:lnTo>
                <a:lnTo>
                  <a:pt x="0" y="0"/>
                </a:lnTo>
              </a:path>
            </a:pathLst>
          </a:custGeom>
          <a:solidFill>
            <a:srgbClr val="318C76"/>
          </a:solidFill>
          <a:ln w="9525">
            <a:solidFill>
              <a:srgbClr val="318C76"/>
            </a:solidFill>
          </a:ln>
        </p:spPr>
        <p:txBody>
          <a:bodyPr/>
          <a:lstStyle/>
          <a:p>
            <a:endParaRPr lang="de-DE"/>
          </a:p>
        </p:txBody>
      </p:sp>
      <p:sp>
        <p:nvSpPr>
          <p:cNvPr id="8" name="path-7">
            <a:extLst>
              <a:ext uri="{FF2B5EF4-FFF2-40B4-BE49-F238E27FC236}">
                <a16:creationId xmlns:a16="http://schemas.microsoft.com/office/drawing/2014/main" id="{FD4136A3-74BF-436C-AB97-A8B083A2486C}"/>
              </a:ext>
            </a:extLst>
          </p:cNvPr>
          <p:cNvSpPr>
            <a:spLocks noGrp="1"/>
          </p:cNvSpPr>
          <p:nvPr/>
        </p:nvSpPr>
        <p:spPr>
          <a:xfrm>
            <a:off x="31127700" y="7124700"/>
            <a:ext cx="352425" cy="228600"/>
          </a:xfrm>
          <a:custGeom>
            <a:avLst/>
            <a:gdLst/>
            <a:ahLst/>
            <a:cxnLst/>
            <a:rect l="0" t="0" r="0" b="0"/>
            <a:pathLst>
              <a:path w="352425" h="228600">
                <a:moveTo>
                  <a:pt x="0" y="0"/>
                </a:moveTo>
                <a:lnTo>
                  <a:pt x="352425" y="114300"/>
                </a:lnTo>
                <a:lnTo>
                  <a:pt x="0" y="228600"/>
                </a:lnTo>
                <a:lnTo>
                  <a:pt x="0" y="0"/>
                </a:lnTo>
              </a:path>
            </a:pathLst>
          </a:custGeom>
          <a:solidFill>
            <a:srgbClr val="B79728"/>
          </a:solidFill>
          <a:ln w="9525">
            <a:solidFill>
              <a:srgbClr val="B79728"/>
            </a:solidFill>
          </a:ln>
        </p:spPr>
        <p:txBody>
          <a:bodyPr/>
          <a:lstStyle/>
          <a:p>
            <a:endParaRPr lang="de-DE"/>
          </a:p>
        </p:txBody>
      </p:sp>
      <p:sp>
        <p:nvSpPr>
          <p:cNvPr id="9" name="label-8">
            <a:extLst>
              <a:ext uri="{FF2B5EF4-FFF2-40B4-BE49-F238E27FC236}">
                <a16:creationId xmlns:a16="http://schemas.microsoft.com/office/drawing/2014/main" id="{4EACAAA4-F405-4EEA-8724-BD03C27E13D3}"/>
              </a:ext>
            </a:extLst>
          </p:cNvPr>
          <p:cNvSpPr>
            <a:spLocks noGrp="1"/>
          </p:cNvSpPr>
          <p:nvPr/>
        </p:nvSpPr>
        <p:spPr>
          <a:xfrm>
            <a:off x="666750" y="7200900"/>
            <a:ext cx="8096250" cy="433388"/>
          </a:xfrm>
          <a:prstGeom prst="rect">
            <a:avLst/>
          </a:prstGeom>
          <a:noFill/>
          <a:ln w="0">
            <a:noFill/>
          </a:ln>
        </p:spPr>
        <p:txBody>
          <a:bodyPr wrap="none" lIns="0" tIns="0" rIns="0" bIns="0">
            <a:noAutofit/>
          </a:bodyPr>
          <a:lstStyle/>
          <a:p>
            <a:pPr>
              <a:defRPr sz="2625" b="1">
                <a:solidFill>
                  <a:srgbClr val="3987BB"/>
                </a:solidFill>
                <a:latin typeface="Calibri"/>
                <a:ea typeface="Calibri"/>
                <a:cs typeface="Calibri"/>
              </a:defRPr>
            </a:pPr>
            <a:r>
              <a:rPr sz="2625" b="1">
                <a:solidFill>
                  <a:srgbClr val="3987BB"/>
                </a:solidFill>
                <a:latin typeface="Calibri"/>
                <a:ea typeface="Calibri"/>
                <a:cs typeface="Calibri"/>
              </a:rPr>
              <a:t>PROBABILITY AND STATISTICS</a:t>
            </a:r>
          </a:p>
        </p:txBody>
      </p:sp>
      <p:sp>
        <p:nvSpPr>
          <p:cNvPr id="10" name="label-9">
            <a:extLst>
              <a:ext uri="{FF2B5EF4-FFF2-40B4-BE49-F238E27FC236}">
                <a16:creationId xmlns:a16="http://schemas.microsoft.com/office/drawing/2014/main" id="{A0055871-8471-4CEE-8EEC-2C59E4E7FB64}"/>
              </a:ext>
            </a:extLst>
          </p:cNvPr>
          <p:cNvSpPr>
            <a:spLocks noGrp="1"/>
          </p:cNvSpPr>
          <p:nvPr/>
        </p:nvSpPr>
        <p:spPr>
          <a:xfrm>
            <a:off x="3143250" y="10172700"/>
            <a:ext cx="4095750" cy="433388"/>
          </a:xfrm>
          <a:prstGeom prst="rect">
            <a:avLst/>
          </a:prstGeom>
          <a:noFill/>
          <a:ln w="0">
            <a:noFill/>
          </a:ln>
        </p:spPr>
        <p:txBody>
          <a:bodyPr wrap="none" lIns="0" tIns="0" rIns="0" bIns="0">
            <a:noAutofit/>
          </a:bodyPr>
          <a:lstStyle/>
          <a:p>
            <a:pPr>
              <a:defRPr sz="2625" b="1">
                <a:solidFill>
                  <a:srgbClr val="318C76"/>
                </a:solidFill>
                <a:latin typeface="Calibri"/>
                <a:ea typeface="Calibri"/>
                <a:cs typeface="Calibri"/>
              </a:defRPr>
            </a:pPr>
            <a:r>
              <a:rPr sz="2625" b="1">
                <a:solidFill>
                  <a:srgbClr val="318C76"/>
                </a:solidFill>
                <a:latin typeface="Calibri"/>
                <a:ea typeface="Calibri"/>
                <a:cs typeface="Calibri"/>
              </a:rPr>
              <a:t>ALGORITHMS</a:t>
            </a:r>
          </a:p>
        </p:txBody>
      </p:sp>
      <p:sp>
        <p:nvSpPr>
          <p:cNvPr id="11" name="label-10">
            <a:extLst>
              <a:ext uri="{FF2B5EF4-FFF2-40B4-BE49-F238E27FC236}">
                <a16:creationId xmlns:a16="http://schemas.microsoft.com/office/drawing/2014/main" id="{1D431360-61A8-48C0-8F27-11A415D88B33}"/>
              </a:ext>
            </a:extLst>
          </p:cNvPr>
          <p:cNvSpPr>
            <a:spLocks noGrp="1"/>
          </p:cNvSpPr>
          <p:nvPr/>
        </p:nvSpPr>
        <p:spPr>
          <a:xfrm>
            <a:off x="8810625" y="14573250"/>
            <a:ext cx="5619750" cy="433388"/>
          </a:xfrm>
          <a:prstGeom prst="rect">
            <a:avLst/>
          </a:prstGeom>
          <a:noFill/>
          <a:ln w="0">
            <a:noFill/>
          </a:ln>
        </p:spPr>
        <p:txBody>
          <a:bodyPr wrap="none" lIns="0" tIns="0" rIns="0" bIns="0">
            <a:noAutofit/>
          </a:bodyPr>
          <a:lstStyle/>
          <a:p>
            <a:pPr>
              <a:defRPr sz="2625" b="1">
                <a:solidFill>
                  <a:srgbClr val="B79728"/>
                </a:solidFill>
                <a:latin typeface="Calibri"/>
                <a:ea typeface="Calibri"/>
                <a:cs typeface="Calibri"/>
              </a:defRPr>
            </a:pPr>
            <a:r>
              <a:rPr sz="2625" b="1">
                <a:solidFill>
                  <a:srgbClr val="B79728"/>
                </a:solidFill>
                <a:latin typeface="Calibri"/>
                <a:ea typeface="Calibri"/>
                <a:cs typeface="Calibri"/>
              </a:rPr>
              <a:t>DATA AND COMPUTING</a:t>
            </a:r>
          </a:p>
        </p:txBody>
      </p:sp>
      <p:sp>
        <p:nvSpPr>
          <p:cNvPr id="12" name="label-11">
            <a:extLst>
              <a:ext uri="{FF2B5EF4-FFF2-40B4-BE49-F238E27FC236}">
                <a16:creationId xmlns:a16="http://schemas.microsoft.com/office/drawing/2014/main" id="{A03F788E-6216-4A14-B211-E18DEA1D5BE7}"/>
              </a:ext>
            </a:extLst>
          </p:cNvPr>
          <p:cNvSpPr>
            <a:spLocks noGrp="1"/>
          </p:cNvSpPr>
          <p:nvPr/>
        </p:nvSpPr>
        <p:spPr>
          <a:xfrm>
            <a:off x="28332112" y="7694797"/>
            <a:ext cx="3148013" cy="616750"/>
          </a:xfrm>
          <a:prstGeom prst="rect">
            <a:avLst/>
          </a:prstGeom>
          <a:noFill/>
          <a:ln w="0">
            <a:noFill/>
          </a:ln>
        </p:spPr>
        <p:txBody>
          <a:bodyPr wrap="none" lIns="0" tIns="0" rIns="0" bIns="0">
            <a:noAutofit/>
          </a:bodyPr>
          <a:lstStyle/>
          <a:p>
            <a:pPr>
              <a:defRPr sz="3225" b="1">
                <a:solidFill>
                  <a:srgbClr val="243441"/>
                </a:solidFill>
                <a:latin typeface="Calibri"/>
                <a:ea typeface="Calibri"/>
                <a:cs typeface="Calibri"/>
              </a:defRPr>
            </a:pPr>
            <a:r>
              <a:rPr sz="4000" b="1" dirty="0">
                <a:solidFill>
                  <a:srgbClr val="243441"/>
                </a:solidFill>
                <a:latin typeface="Calibri"/>
                <a:ea typeface="Calibri"/>
                <a:cs typeface="Calibri"/>
              </a:rPr>
              <a:t>DATA SCIENCE</a:t>
            </a:r>
          </a:p>
        </p:txBody>
      </p:sp>
      <p:pic>
        <p:nvPicPr>
          <p:cNvPr id="181" name="Grafik 180"/>
          <p:cNvPicPr>
            <a:picLocks noChangeAspect="1"/>
          </p:cNvPicPr>
          <p:nvPr/>
        </p:nvPicPr>
        <p:blipFill>
          <a:blip r:embed="rId3"/>
          <a:stretch/>
        </p:blipFill>
        <p:spPr>
          <a:xfrm>
            <a:off x="809625" y="2954079"/>
            <a:ext cx="1143000" cy="1226067"/>
          </a:xfrm>
          <a:prstGeom prst="rect">
            <a:avLst/>
          </a:prstGeom>
        </p:spPr>
      </p:pic>
      <p:sp>
        <p:nvSpPr>
          <p:cNvPr id="14" name="label-13">
            <a:extLst>
              <a:ext uri="{FF2B5EF4-FFF2-40B4-BE49-F238E27FC236}">
                <a16:creationId xmlns:a16="http://schemas.microsoft.com/office/drawing/2014/main" id="{8E9A5183-51ED-43A7-AC87-05B161777193}"/>
              </a:ext>
            </a:extLst>
          </p:cNvPr>
          <p:cNvSpPr>
            <a:spLocks noGrp="1"/>
          </p:cNvSpPr>
          <p:nvPr/>
        </p:nvSpPr>
        <p:spPr>
          <a:xfrm>
            <a:off x="2238375" y="2895600"/>
            <a:ext cx="371475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1763</a:t>
            </a:r>
          </a:p>
        </p:txBody>
      </p:sp>
      <p:sp>
        <p:nvSpPr>
          <p:cNvPr id="15" name="label-14">
            <a:extLst>
              <a:ext uri="{FF2B5EF4-FFF2-40B4-BE49-F238E27FC236}">
                <a16:creationId xmlns:a16="http://schemas.microsoft.com/office/drawing/2014/main" id="{BE5290C8-7182-4DBB-B588-54B7D6A015FF}"/>
              </a:ext>
            </a:extLst>
          </p:cNvPr>
          <p:cNvSpPr>
            <a:spLocks noGrp="1"/>
          </p:cNvSpPr>
          <p:nvPr/>
        </p:nvSpPr>
        <p:spPr>
          <a:xfrm>
            <a:off x="2238375" y="3276600"/>
            <a:ext cx="371475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Bayes’ theorem</a:t>
            </a:r>
          </a:p>
        </p:txBody>
      </p:sp>
      <p:sp>
        <p:nvSpPr>
          <p:cNvPr id="16" name="label-15">
            <a:extLst>
              <a:ext uri="{FF2B5EF4-FFF2-40B4-BE49-F238E27FC236}">
                <a16:creationId xmlns:a16="http://schemas.microsoft.com/office/drawing/2014/main" id="{A36E70EC-A441-42CB-A645-A7AD9180FB9C}"/>
              </a:ext>
            </a:extLst>
          </p:cNvPr>
          <p:cNvSpPr>
            <a:spLocks noGrp="1"/>
          </p:cNvSpPr>
          <p:nvPr/>
        </p:nvSpPr>
        <p:spPr>
          <a:xfrm>
            <a:off x="2238375" y="3695700"/>
            <a:ext cx="37147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Thomas Bayes</a:t>
            </a:r>
          </a:p>
        </p:txBody>
      </p:sp>
      <p:sp>
        <p:nvSpPr>
          <p:cNvPr id="17" name="path-16">
            <a:extLst>
              <a:ext uri="{FF2B5EF4-FFF2-40B4-BE49-F238E27FC236}">
                <a16:creationId xmlns:a16="http://schemas.microsoft.com/office/drawing/2014/main" id="{7D7B087F-CF7A-44B7-A271-881D805F6D4B}"/>
              </a:ext>
            </a:extLst>
          </p:cNvPr>
          <p:cNvSpPr>
            <a:spLocks noGrp="1"/>
          </p:cNvSpPr>
          <p:nvPr/>
        </p:nvSpPr>
        <p:spPr>
          <a:xfrm>
            <a:off x="2762250" y="4457700"/>
            <a:ext cx="381000" cy="2305050"/>
          </a:xfrm>
          <a:custGeom>
            <a:avLst/>
            <a:gdLst/>
            <a:ahLst/>
            <a:cxnLst/>
            <a:rect l="0" t="0" r="0" b="0"/>
            <a:pathLst>
              <a:path w="381000" h="2305050">
                <a:moveTo>
                  <a:pt x="0" y="2305050"/>
                </a:moveTo>
                <a:lnTo>
                  <a:pt x="0" y="0"/>
                </a:lnTo>
                <a:lnTo>
                  <a:pt x="381000" y="0"/>
                </a:lnTo>
              </a:path>
            </a:pathLst>
          </a:custGeom>
          <a:noFill/>
          <a:ln w="16193">
            <a:solidFill>
              <a:srgbClr val="A5AFB4"/>
            </a:solidFill>
          </a:ln>
        </p:spPr>
        <p:txBody>
          <a:bodyPr/>
          <a:lstStyle/>
          <a:p>
            <a:endParaRPr lang="de-DE"/>
          </a:p>
        </p:txBody>
      </p:sp>
      <p:sp>
        <p:nvSpPr>
          <p:cNvPr id="18" name="path-17">
            <a:extLst>
              <a:ext uri="{FF2B5EF4-FFF2-40B4-BE49-F238E27FC236}">
                <a16:creationId xmlns:a16="http://schemas.microsoft.com/office/drawing/2014/main" id="{462C7A3B-2FE6-449C-A3B5-DA64E1C4F201}"/>
              </a:ext>
            </a:extLst>
          </p:cNvPr>
          <p:cNvSpPr>
            <a:spLocks noGrp="1"/>
          </p:cNvSpPr>
          <p:nvPr/>
        </p:nvSpPr>
        <p:spPr>
          <a:xfrm>
            <a:off x="27622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19" name="label-18">
            <a:extLst>
              <a:ext uri="{FF2B5EF4-FFF2-40B4-BE49-F238E27FC236}">
                <a16:creationId xmlns:a16="http://schemas.microsoft.com/office/drawing/2014/main" id="{46917704-5F0A-4C92-AE3C-E62D450308FE}"/>
              </a:ext>
            </a:extLst>
          </p:cNvPr>
          <p:cNvSpPr>
            <a:spLocks noGrp="1"/>
          </p:cNvSpPr>
          <p:nvPr/>
        </p:nvSpPr>
        <p:spPr>
          <a:xfrm>
            <a:off x="4143375" y="714375"/>
            <a:ext cx="438150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1920s</a:t>
            </a:r>
          </a:p>
        </p:txBody>
      </p:sp>
      <p:sp>
        <p:nvSpPr>
          <p:cNvPr id="20" name="label-19">
            <a:extLst>
              <a:ext uri="{FF2B5EF4-FFF2-40B4-BE49-F238E27FC236}">
                <a16:creationId xmlns:a16="http://schemas.microsoft.com/office/drawing/2014/main" id="{2E4329E7-71F2-4DA2-B5A2-EA7B034E0CD7}"/>
              </a:ext>
            </a:extLst>
          </p:cNvPr>
          <p:cNvSpPr>
            <a:spLocks noGrp="1"/>
          </p:cNvSpPr>
          <p:nvPr/>
        </p:nvSpPr>
        <p:spPr>
          <a:xfrm>
            <a:off x="4143375" y="1095375"/>
            <a:ext cx="43815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Factor analysis</a:t>
            </a:r>
          </a:p>
        </p:txBody>
      </p:sp>
      <p:sp>
        <p:nvSpPr>
          <p:cNvPr id="21" name="label-20">
            <a:extLst>
              <a:ext uri="{FF2B5EF4-FFF2-40B4-BE49-F238E27FC236}">
                <a16:creationId xmlns:a16="http://schemas.microsoft.com/office/drawing/2014/main" id="{CBE1A76D-CCED-419C-B58A-CC7EAD80E20C}"/>
              </a:ext>
            </a:extLst>
          </p:cNvPr>
          <p:cNvSpPr>
            <a:spLocks noGrp="1"/>
          </p:cNvSpPr>
          <p:nvPr/>
        </p:nvSpPr>
        <p:spPr>
          <a:xfrm>
            <a:off x="4143375" y="1514475"/>
            <a:ext cx="4381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Charles Spearman (1927)</a:t>
            </a:r>
          </a:p>
        </p:txBody>
      </p:sp>
      <p:sp>
        <p:nvSpPr>
          <p:cNvPr id="22" name="path-21">
            <a:extLst>
              <a:ext uri="{FF2B5EF4-FFF2-40B4-BE49-F238E27FC236}">
                <a16:creationId xmlns:a16="http://schemas.microsoft.com/office/drawing/2014/main" id="{102E1C06-94F7-4D12-AABE-63D7FCDF03E1}"/>
              </a:ext>
            </a:extLst>
          </p:cNvPr>
          <p:cNvSpPr>
            <a:spLocks noGrp="1"/>
          </p:cNvSpPr>
          <p:nvPr/>
        </p:nvSpPr>
        <p:spPr>
          <a:xfrm>
            <a:off x="5143500" y="2228850"/>
            <a:ext cx="476250" cy="4533900"/>
          </a:xfrm>
          <a:custGeom>
            <a:avLst/>
            <a:gdLst/>
            <a:ahLst/>
            <a:cxnLst/>
            <a:rect l="0" t="0" r="0" b="0"/>
            <a:pathLst>
              <a:path w="476250" h="4533900">
                <a:moveTo>
                  <a:pt x="0" y="4533900"/>
                </a:moveTo>
                <a:lnTo>
                  <a:pt x="0" y="0"/>
                </a:lnTo>
                <a:lnTo>
                  <a:pt x="476250" y="0"/>
                </a:lnTo>
              </a:path>
            </a:pathLst>
          </a:custGeom>
          <a:noFill/>
          <a:ln w="16193">
            <a:solidFill>
              <a:srgbClr val="A5AFB4"/>
            </a:solidFill>
          </a:ln>
        </p:spPr>
        <p:txBody>
          <a:bodyPr/>
          <a:lstStyle/>
          <a:p>
            <a:endParaRPr lang="de-DE"/>
          </a:p>
        </p:txBody>
      </p:sp>
      <p:sp>
        <p:nvSpPr>
          <p:cNvPr id="23" name="path-22">
            <a:extLst>
              <a:ext uri="{FF2B5EF4-FFF2-40B4-BE49-F238E27FC236}">
                <a16:creationId xmlns:a16="http://schemas.microsoft.com/office/drawing/2014/main" id="{9D643328-2EF7-45B9-BFF8-5E1F7C921BA0}"/>
              </a:ext>
            </a:extLst>
          </p:cNvPr>
          <p:cNvSpPr>
            <a:spLocks noGrp="1"/>
          </p:cNvSpPr>
          <p:nvPr/>
        </p:nvSpPr>
        <p:spPr>
          <a:xfrm>
            <a:off x="514350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24" name="label-23">
            <a:extLst>
              <a:ext uri="{FF2B5EF4-FFF2-40B4-BE49-F238E27FC236}">
                <a16:creationId xmlns:a16="http://schemas.microsoft.com/office/drawing/2014/main" id="{C5525398-9E25-4A1F-A24E-5CE5D1629D2B}"/>
              </a:ext>
            </a:extLst>
          </p:cNvPr>
          <p:cNvSpPr>
            <a:spLocks noGrp="1"/>
          </p:cNvSpPr>
          <p:nvPr/>
        </p:nvSpPr>
        <p:spPr>
          <a:xfrm>
            <a:off x="5715000" y="4238625"/>
            <a:ext cx="447675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1922</a:t>
            </a:r>
          </a:p>
        </p:txBody>
      </p:sp>
      <p:sp>
        <p:nvSpPr>
          <p:cNvPr id="25" name="label-24">
            <a:extLst>
              <a:ext uri="{FF2B5EF4-FFF2-40B4-BE49-F238E27FC236}">
                <a16:creationId xmlns:a16="http://schemas.microsoft.com/office/drawing/2014/main" id="{881183D8-26BD-4E0E-8519-7948781CE55B}"/>
              </a:ext>
            </a:extLst>
          </p:cNvPr>
          <p:cNvSpPr>
            <a:spLocks noGrp="1"/>
          </p:cNvSpPr>
          <p:nvPr/>
        </p:nvSpPr>
        <p:spPr>
          <a:xfrm>
            <a:off x="5715000" y="4619625"/>
            <a:ext cx="447675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Central limit theorem</a:t>
            </a:r>
          </a:p>
        </p:txBody>
      </p:sp>
      <p:sp>
        <p:nvSpPr>
          <p:cNvPr id="26" name="label-25">
            <a:extLst>
              <a:ext uri="{FF2B5EF4-FFF2-40B4-BE49-F238E27FC236}">
                <a16:creationId xmlns:a16="http://schemas.microsoft.com/office/drawing/2014/main" id="{B085A85F-E248-43FA-97DD-743452A1F83E}"/>
              </a:ext>
            </a:extLst>
          </p:cNvPr>
          <p:cNvSpPr>
            <a:spLocks noGrp="1"/>
          </p:cNvSpPr>
          <p:nvPr/>
        </p:nvSpPr>
        <p:spPr>
          <a:xfrm>
            <a:off x="5715000" y="5038725"/>
            <a:ext cx="44767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J. W. Lindeberg</a:t>
            </a:r>
          </a:p>
        </p:txBody>
      </p:sp>
      <p:sp>
        <p:nvSpPr>
          <p:cNvPr id="27" name="path-26">
            <a:extLst>
              <a:ext uri="{FF2B5EF4-FFF2-40B4-BE49-F238E27FC236}">
                <a16:creationId xmlns:a16="http://schemas.microsoft.com/office/drawing/2014/main" id="{24D46074-E72F-4571-9FB7-0E24D27A7690}"/>
              </a:ext>
            </a:extLst>
          </p:cNvPr>
          <p:cNvSpPr>
            <a:spLocks noGrp="1"/>
          </p:cNvSpPr>
          <p:nvPr/>
        </p:nvSpPr>
        <p:spPr>
          <a:xfrm>
            <a:off x="6572250" y="5762625"/>
            <a:ext cx="428625" cy="1000125"/>
          </a:xfrm>
          <a:custGeom>
            <a:avLst/>
            <a:gdLst/>
            <a:ahLst/>
            <a:cxnLst/>
            <a:rect l="0" t="0" r="0" b="0"/>
            <a:pathLst>
              <a:path w="428625" h="1000125">
                <a:moveTo>
                  <a:pt x="0" y="1000125"/>
                </a:moveTo>
                <a:lnTo>
                  <a:pt x="0" y="0"/>
                </a:lnTo>
                <a:lnTo>
                  <a:pt x="428625" y="0"/>
                </a:lnTo>
              </a:path>
            </a:pathLst>
          </a:custGeom>
          <a:noFill/>
          <a:ln w="16193">
            <a:solidFill>
              <a:srgbClr val="A5AFB4"/>
            </a:solidFill>
          </a:ln>
        </p:spPr>
        <p:txBody>
          <a:bodyPr/>
          <a:lstStyle/>
          <a:p>
            <a:endParaRPr lang="de-DE"/>
          </a:p>
        </p:txBody>
      </p:sp>
      <p:sp>
        <p:nvSpPr>
          <p:cNvPr id="28" name="path-27">
            <a:extLst>
              <a:ext uri="{FF2B5EF4-FFF2-40B4-BE49-F238E27FC236}">
                <a16:creationId xmlns:a16="http://schemas.microsoft.com/office/drawing/2014/main" id="{0F25759A-374F-4CD5-9812-97BD7DF55F0A}"/>
              </a:ext>
            </a:extLst>
          </p:cNvPr>
          <p:cNvSpPr>
            <a:spLocks noGrp="1"/>
          </p:cNvSpPr>
          <p:nvPr/>
        </p:nvSpPr>
        <p:spPr>
          <a:xfrm>
            <a:off x="65722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pic>
        <p:nvPicPr>
          <p:cNvPr id="197" name="Grafik 196"/>
          <p:cNvPicPr>
            <a:picLocks noChangeAspect="1"/>
          </p:cNvPicPr>
          <p:nvPr/>
        </p:nvPicPr>
        <p:blipFill>
          <a:blip r:embed="rId4"/>
          <a:stretch/>
        </p:blipFill>
        <p:spPr>
          <a:xfrm>
            <a:off x="8430373" y="1095375"/>
            <a:ext cx="1236754" cy="1476375"/>
          </a:xfrm>
          <a:prstGeom prst="rect">
            <a:avLst/>
          </a:prstGeom>
        </p:spPr>
      </p:pic>
      <p:sp>
        <p:nvSpPr>
          <p:cNvPr id="30" name="label-29">
            <a:extLst>
              <a:ext uri="{FF2B5EF4-FFF2-40B4-BE49-F238E27FC236}">
                <a16:creationId xmlns:a16="http://schemas.microsoft.com/office/drawing/2014/main" id="{D99C9A8A-3D75-4A20-8727-D3A77A8B75E3}"/>
              </a:ext>
            </a:extLst>
          </p:cNvPr>
          <p:cNvSpPr>
            <a:spLocks noGrp="1"/>
          </p:cNvSpPr>
          <p:nvPr/>
        </p:nvSpPr>
        <p:spPr>
          <a:xfrm>
            <a:off x="10001250" y="1019175"/>
            <a:ext cx="466725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1925–1935</a:t>
            </a:r>
          </a:p>
        </p:txBody>
      </p:sp>
      <p:sp>
        <p:nvSpPr>
          <p:cNvPr id="31" name="label-30">
            <a:extLst>
              <a:ext uri="{FF2B5EF4-FFF2-40B4-BE49-F238E27FC236}">
                <a16:creationId xmlns:a16="http://schemas.microsoft.com/office/drawing/2014/main" id="{233FF324-5C2A-4902-8F58-97C4D6CDB043}"/>
              </a:ext>
            </a:extLst>
          </p:cNvPr>
          <p:cNvSpPr>
            <a:spLocks noGrp="1"/>
          </p:cNvSpPr>
          <p:nvPr/>
        </p:nvSpPr>
        <p:spPr>
          <a:xfrm>
            <a:off x="10001250" y="1400175"/>
            <a:ext cx="466725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Frequentist statistics</a:t>
            </a:r>
          </a:p>
        </p:txBody>
      </p:sp>
      <p:sp>
        <p:nvSpPr>
          <p:cNvPr id="32" name="label-31">
            <a:extLst>
              <a:ext uri="{FF2B5EF4-FFF2-40B4-BE49-F238E27FC236}">
                <a16:creationId xmlns:a16="http://schemas.microsoft.com/office/drawing/2014/main" id="{57FC92E2-6605-407E-A3AB-8575745A8A25}"/>
              </a:ext>
            </a:extLst>
          </p:cNvPr>
          <p:cNvSpPr>
            <a:spLocks noGrp="1"/>
          </p:cNvSpPr>
          <p:nvPr/>
        </p:nvSpPr>
        <p:spPr>
          <a:xfrm>
            <a:off x="10001250" y="1819275"/>
            <a:ext cx="4667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R. A. Fisher</a:t>
            </a:r>
          </a:p>
        </p:txBody>
      </p:sp>
      <p:sp>
        <p:nvSpPr>
          <p:cNvPr id="33" name="label-32">
            <a:extLst>
              <a:ext uri="{FF2B5EF4-FFF2-40B4-BE49-F238E27FC236}">
                <a16:creationId xmlns:a16="http://schemas.microsoft.com/office/drawing/2014/main" id="{152BCF50-A113-45B0-B226-17401924FF91}"/>
              </a:ext>
            </a:extLst>
          </p:cNvPr>
          <p:cNvSpPr>
            <a:spLocks noGrp="1"/>
          </p:cNvSpPr>
          <p:nvPr/>
        </p:nvSpPr>
        <p:spPr>
          <a:xfrm>
            <a:off x="10001250" y="2171700"/>
            <a:ext cx="4667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Neyman &amp; Pearson (1933)</a:t>
            </a:r>
          </a:p>
        </p:txBody>
      </p:sp>
      <p:sp>
        <p:nvSpPr>
          <p:cNvPr id="34" name="path-33">
            <a:extLst>
              <a:ext uri="{FF2B5EF4-FFF2-40B4-BE49-F238E27FC236}">
                <a16:creationId xmlns:a16="http://schemas.microsoft.com/office/drawing/2014/main" id="{5F84BE86-68F8-4D29-95CB-510863EB11C2}"/>
              </a:ext>
            </a:extLst>
          </p:cNvPr>
          <p:cNvSpPr>
            <a:spLocks noGrp="1"/>
          </p:cNvSpPr>
          <p:nvPr/>
        </p:nvSpPr>
        <p:spPr>
          <a:xfrm>
            <a:off x="10191750" y="2914650"/>
            <a:ext cx="381000" cy="3848100"/>
          </a:xfrm>
          <a:custGeom>
            <a:avLst/>
            <a:gdLst/>
            <a:ahLst/>
            <a:cxnLst/>
            <a:rect l="0" t="0" r="0" b="0"/>
            <a:pathLst>
              <a:path w="381000" h="3848100">
                <a:moveTo>
                  <a:pt x="0" y="3848100"/>
                </a:moveTo>
                <a:lnTo>
                  <a:pt x="0" y="0"/>
                </a:lnTo>
                <a:lnTo>
                  <a:pt x="381000" y="0"/>
                </a:lnTo>
              </a:path>
            </a:pathLst>
          </a:custGeom>
          <a:noFill/>
          <a:ln w="16193">
            <a:solidFill>
              <a:srgbClr val="A5AFB4"/>
            </a:solidFill>
          </a:ln>
        </p:spPr>
        <p:txBody>
          <a:bodyPr/>
          <a:lstStyle/>
          <a:p>
            <a:endParaRPr lang="de-DE"/>
          </a:p>
        </p:txBody>
      </p:sp>
      <p:sp>
        <p:nvSpPr>
          <p:cNvPr id="35" name="path-34">
            <a:extLst>
              <a:ext uri="{FF2B5EF4-FFF2-40B4-BE49-F238E27FC236}">
                <a16:creationId xmlns:a16="http://schemas.microsoft.com/office/drawing/2014/main" id="{D5491270-4F8C-45A7-85AB-6094099942CE}"/>
              </a:ext>
            </a:extLst>
          </p:cNvPr>
          <p:cNvSpPr>
            <a:spLocks noGrp="1"/>
          </p:cNvSpPr>
          <p:nvPr/>
        </p:nvSpPr>
        <p:spPr>
          <a:xfrm>
            <a:off x="101917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pic>
        <p:nvPicPr>
          <p:cNvPr id="204" name="Grafik 203"/>
          <p:cNvPicPr>
            <a:picLocks noChangeAspect="1"/>
          </p:cNvPicPr>
          <p:nvPr/>
        </p:nvPicPr>
        <p:blipFill>
          <a:blip r:embed="rId5"/>
          <a:stretch/>
        </p:blipFill>
        <p:spPr>
          <a:xfrm>
            <a:off x="11049000" y="3953043"/>
            <a:ext cx="1085850" cy="1571289"/>
          </a:xfrm>
          <a:prstGeom prst="rect">
            <a:avLst/>
          </a:prstGeom>
        </p:spPr>
      </p:pic>
      <p:sp>
        <p:nvSpPr>
          <p:cNvPr id="37" name="label-36">
            <a:extLst>
              <a:ext uri="{FF2B5EF4-FFF2-40B4-BE49-F238E27FC236}">
                <a16:creationId xmlns:a16="http://schemas.microsoft.com/office/drawing/2014/main" id="{FFACF230-9974-4CF8-B879-BE7315F0CF13}"/>
              </a:ext>
            </a:extLst>
          </p:cNvPr>
          <p:cNvSpPr>
            <a:spLocks noGrp="1"/>
          </p:cNvSpPr>
          <p:nvPr/>
        </p:nvSpPr>
        <p:spPr>
          <a:xfrm>
            <a:off x="12477750" y="3886200"/>
            <a:ext cx="419100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1933</a:t>
            </a:r>
          </a:p>
        </p:txBody>
      </p:sp>
      <p:sp>
        <p:nvSpPr>
          <p:cNvPr id="38" name="label-37">
            <a:extLst>
              <a:ext uri="{FF2B5EF4-FFF2-40B4-BE49-F238E27FC236}">
                <a16:creationId xmlns:a16="http://schemas.microsoft.com/office/drawing/2014/main" id="{4B7311AD-4C56-48F1-85F7-E430C7AB4E0D}"/>
              </a:ext>
            </a:extLst>
          </p:cNvPr>
          <p:cNvSpPr>
            <a:spLocks noGrp="1"/>
          </p:cNvSpPr>
          <p:nvPr/>
        </p:nvSpPr>
        <p:spPr>
          <a:xfrm>
            <a:off x="12477750" y="4267200"/>
            <a:ext cx="41910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Probability axioms</a:t>
            </a:r>
          </a:p>
        </p:txBody>
      </p:sp>
      <p:sp>
        <p:nvSpPr>
          <p:cNvPr id="39" name="label-38">
            <a:extLst>
              <a:ext uri="{FF2B5EF4-FFF2-40B4-BE49-F238E27FC236}">
                <a16:creationId xmlns:a16="http://schemas.microsoft.com/office/drawing/2014/main" id="{44E4B1F0-08B8-40D0-A772-9B97B63B1B07}"/>
              </a:ext>
            </a:extLst>
          </p:cNvPr>
          <p:cNvSpPr>
            <a:spLocks noGrp="1"/>
          </p:cNvSpPr>
          <p:nvPr/>
        </p:nvSpPr>
        <p:spPr>
          <a:xfrm>
            <a:off x="12477750" y="4686300"/>
            <a:ext cx="41910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A. N. Kolmogorov</a:t>
            </a:r>
          </a:p>
        </p:txBody>
      </p:sp>
      <p:sp>
        <p:nvSpPr>
          <p:cNvPr id="40" name="path-39">
            <a:extLst>
              <a:ext uri="{FF2B5EF4-FFF2-40B4-BE49-F238E27FC236}">
                <a16:creationId xmlns:a16="http://schemas.microsoft.com/office/drawing/2014/main" id="{15A346DD-983D-4040-8812-0D6E6F652D48}"/>
              </a:ext>
            </a:extLst>
          </p:cNvPr>
          <p:cNvSpPr>
            <a:spLocks noGrp="1"/>
          </p:cNvSpPr>
          <p:nvPr/>
        </p:nvSpPr>
        <p:spPr>
          <a:xfrm>
            <a:off x="13144500" y="5534025"/>
            <a:ext cx="333375" cy="1228725"/>
          </a:xfrm>
          <a:custGeom>
            <a:avLst/>
            <a:gdLst/>
            <a:ahLst/>
            <a:cxnLst/>
            <a:rect l="0" t="0" r="0" b="0"/>
            <a:pathLst>
              <a:path w="333375" h="1228725">
                <a:moveTo>
                  <a:pt x="0" y="1228725"/>
                </a:moveTo>
                <a:lnTo>
                  <a:pt x="0" y="0"/>
                </a:lnTo>
                <a:lnTo>
                  <a:pt x="333375" y="0"/>
                </a:lnTo>
              </a:path>
            </a:pathLst>
          </a:custGeom>
          <a:noFill/>
          <a:ln w="16193">
            <a:solidFill>
              <a:srgbClr val="A5AFB4"/>
            </a:solidFill>
          </a:ln>
        </p:spPr>
        <p:txBody>
          <a:bodyPr/>
          <a:lstStyle/>
          <a:p>
            <a:endParaRPr lang="de-DE"/>
          </a:p>
        </p:txBody>
      </p:sp>
      <p:sp>
        <p:nvSpPr>
          <p:cNvPr id="41" name="path-40">
            <a:extLst>
              <a:ext uri="{FF2B5EF4-FFF2-40B4-BE49-F238E27FC236}">
                <a16:creationId xmlns:a16="http://schemas.microsoft.com/office/drawing/2014/main" id="{4F649494-57AE-4D0F-8F04-30BED5685A22}"/>
              </a:ext>
            </a:extLst>
          </p:cNvPr>
          <p:cNvSpPr>
            <a:spLocks noGrp="1"/>
          </p:cNvSpPr>
          <p:nvPr/>
        </p:nvSpPr>
        <p:spPr>
          <a:xfrm>
            <a:off x="1314450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42" name="label-41">
            <a:extLst>
              <a:ext uri="{FF2B5EF4-FFF2-40B4-BE49-F238E27FC236}">
                <a16:creationId xmlns:a16="http://schemas.microsoft.com/office/drawing/2014/main" id="{E2C249B1-AFFD-46D6-B5DA-8F71F801436D}"/>
              </a:ext>
            </a:extLst>
          </p:cNvPr>
          <p:cNvSpPr>
            <a:spLocks noGrp="1"/>
          </p:cNvSpPr>
          <p:nvPr/>
        </p:nvSpPr>
        <p:spPr>
          <a:xfrm>
            <a:off x="15001875" y="904875"/>
            <a:ext cx="419100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1948</a:t>
            </a:r>
          </a:p>
        </p:txBody>
      </p:sp>
      <p:sp>
        <p:nvSpPr>
          <p:cNvPr id="43" name="label-42">
            <a:extLst>
              <a:ext uri="{FF2B5EF4-FFF2-40B4-BE49-F238E27FC236}">
                <a16:creationId xmlns:a16="http://schemas.microsoft.com/office/drawing/2014/main" id="{E2F12D7B-6CF9-43F3-8149-C7257C47657D}"/>
              </a:ext>
            </a:extLst>
          </p:cNvPr>
          <p:cNvSpPr>
            <a:spLocks noGrp="1"/>
          </p:cNvSpPr>
          <p:nvPr/>
        </p:nvSpPr>
        <p:spPr>
          <a:xfrm>
            <a:off x="15001875" y="1285875"/>
            <a:ext cx="41910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Information theory</a:t>
            </a:r>
          </a:p>
        </p:txBody>
      </p:sp>
      <p:sp>
        <p:nvSpPr>
          <p:cNvPr id="44" name="label-43">
            <a:extLst>
              <a:ext uri="{FF2B5EF4-FFF2-40B4-BE49-F238E27FC236}">
                <a16:creationId xmlns:a16="http://schemas.microsoft.com/office/drawing/2014/main" id="{20C2BF15-60CD-4728-9AA5-C825EB2AB902}"/>
              </a:ext>
            </a:extLst>
          </p:cNvPr>
          <p:cNvSpPr>
            <a:spLocks noGrp="1"/>
          </p:cNvSpPr>
          <p:nvPr/>
        </p:nvSpPr>
        <p:spPr>
          <a:xfrm>
            <a:off x="15001875" y="1704975"/>
            <a:ext cx="41910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Claude E. Shannon</a:t>
            </a:r>
          </a:p>
        </p:txBody>
      </p:sp>
      <p:sp>
        <p:nvSpPr>
          <p:cNvPr id="45" name="path-44">
            <a:extLst>
              <a:ext uri="{FF2B5EF4-FFF2-40B4-BE49-F238E27FC236}">
                <a16:creationId xmlns:a16="http://schemas.microsoft.com/office/drawing/2014/main" id="{060E1AF5-809D-4F02-B3B5-E75DBA311933}"/>
              </a:ext>
            </a:extLst>
          </p:cNvPr>
          <p:cNvSpPr>
            <a:spLocks noGrp="1"/>
          </p:cNvSpPr>
          <p:nvPr/>
        </p:nvSpPr>
        <p:spPr>
          <a:xfrm>
            <a:off x="15335250" y="2524125"/>
            <a:ext cx="285750" cy="4238625"/>
          </a:xfrm>
          <a:custGeom>
            <a:avLst/>
            <a:gdLst/>
            <a:ahLst/>
            <a:cxnLst/>
            <a:rect l="0" t="0" r="0" b="0"/>
            <a:pathLst>
              <a:path w="285750" h="4238625">
                <a:moveTo>
                  <a:pt x="0" y="4238625"/>
                </a:moveTo>
                <a:lnTo>
                  <a:pt x="0" y="0"/>
                </a:lnTo>
                <a:lnTo>
                  <a:pt x="285750" y="0"/>
                </a:lnTo>
              </a:path>
            </a:pathLst>
          </a:custGeom>
          <a:noFill/>
          <a:ln w="16193">
            <a:solidFill>
              <a:srgbClr val="A5AFB4"/>
            </a:solidFill>
          </a:ln>
        </p:spPr>
        <p:txBody>
          <a:bodyPr/>
          <a:lstStyle/>
          <a:p>
            <a:endParaRPr lang="de-DE"/>
          </a:p>
        </p:txBody>
      </p:sp>
      <p:sp>
        <p:nvSpPr>
          <p:cNvPr id="46" name="path-45">
            <a:extLst>
              <a:ext uri="{FF2B5EF4-FFF2-40B4-BE49-F238E27FC236}">
                <a16:creationId xmlns:a16="http://schemas.microsoft.com/office/drawing/2014/main" id="{B502F2F8-E1C1-4BAD-9227-78E3DDF1F221}"/>
              </a:ext>
            </a:extLst>
          </p:cNvPr>
          <p:cNvSpPr>
            <a:spLocks noGrp="1"/>
          </p:cNvSpPr>
          <p:nvPr/>
        </p:nvSpPr>
        <p:spPr>
          <a:xfrm>
            <a:off x="153352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47" name="label-46">
            <a:extLst>
              <a:ext uri="{FF2B5EF4-FFF2-40B4-BE49-F238E27FC236}">
                <a16:creationId xmlns:a16="http://schemas.microsoft.com/office/drawing/2014/main" id="{11E3E695-7355-48F9-B408-23D3D3584225}"/>
              </a:ext>
            </a:extLst>
          </p:cNvPr>
          <p:cNvSpPr>
            <a:spLocks noGrp="1"/>
          </p:cNvSpPr>
          <p:nvPr/>
        </p:nvSpPr>
        <p:spPr>
          <a:xfrm>
            <a:off x="17145000" y="3762375"/>
            <a:ext cx="4429125"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1962</a:t>
            </a:r>
          </a:p>
        </p:txBody>
      </p:sp>
      <p:sp>
        <p:nvSpPr>
          <p:cNvPr id="48" name="label-47">
            <a:extLst>
              <a:ext uri="{FF2B5EF4-FFF2-40B4-BE49-F238E27FC236}">
                <a16:creationId xmlns:a16="http://schemas.microsoft.com/office/drawing/2014/main" id="{E4D1D0ED-2A40-42CA-BC7F-E501460C15DA}"/>
              </a:ext>
            </a:extLst>
          </p:cNvPr>
          <p:cNvSpPr>
            <a:spLocks noGrp="1"/>
          </p:cNvSpPr>
          <p:nvPr/>
        </p:nvSpPr>
        <p:spPr>
          <a:xfrm>
            <a:off x="17145000" y="4143375"/>
            <a:ext cx="4429125"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The Future of</a:t>
            </a:r>
          </a:p>
        </p:txBody>
      </p:sp>
      <p:sp>
        <p:nvSpPr>
          <p:cNvPr id="49" name="label-48">
            <a:extLst>
              <a:ext uri="{FF2B5EF4-FFF2-40B4-BE49-F238E27FC236}">
                <a16:creationId xmlns:a16="http://schemas.microsoft.com/office/drawing/2014/main" id="{A6B0B485-7CEC-43A0-BEEA-E912145C8A34}"/>
              </a:ext>
            </a:extLst>
          </p:cNvPr>
          <p:cNvSpPr>
            <a:spLocks noGrp="1"/>
          </p:cNvSpPr>
          <p:nvPr/>
        </p:nvSpPr>
        <p:spPr>
          <a:xfrm>
            <a:off x="17145000" y="4562475"/>
            <a:ext cx="4429125"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Data Analysis</a:t>
            </a:r>
          </a:p>
        </p:txBody>
      </p:sp>
      <p:sp>
        <p:nvSpPr>
          <p:cNvPr id="50" name="label-49">
            <a:extLst>
              <a:ext uri="{FF2B5EF4-FFF2-40B4-BE49-F238E27FC236}">
                <a16:creationId xmlns:a16="http://schemas.microsoft.com/office/drawing/2014/main" id="{BD671DF2-0D37-45E0-91CF-7252DB73E997}"/>
              </a:ext>
            </a:extLst>
          </p:cNvPr>
          <p:cNvSpPr>
            <a:spLocks noGrp="1"/>
          </p:cNvSpPr>
          <p:nvPr/>
        </p:nvSpPr>
        <p:spPr>
          <a:xfrm>
            <a:off x="17145000" y="4981575"/>
            <a:ext cx="442912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John W. Tukey</a:t>
            </a:r>
          </a:p>
        </p:txBody>
      </p:sp>
      <p:sp>
        <p:nvSpPr>
          <p:cNvPr id="51" name="path-50">
            <a:extLst>
              <a:ext uri="{FF2B5EF4-FFF2-40B4-BE49-F238E27FC236}">
                <a16:creationId xmlns:a16="http://schemas.microsoft.com/office/drawing/2014/main" id="{C58D5B9C-1E81-499B-99E8-E342655AB791}"/>
              </a:ext>
            </a:extLst>
          </p:cNvPr>
          <p:cNvSpPr>
            <a:spLocks noGrp="1"/>
          </p:cNvSpPr>
          <p:nvPr/>
        </p:nvSpPr>
        <p:spPr>
          <a:xfrm>
            <a:off x="17621250" y="5724525"/>
            <a:ext cx="285750" cy="1038225"/>
          </a:xfrm>
          <a:custGeom>
            <a:avLst/>
            <a:gdLst/>
            <a:ahLst/>
            <a:cxnLst/>
            <a:rect l="0" t="0" r="0" b="0"/>
            <a:pathLst>
              <a:path w="285750" h="1038225">
                <a:moveTo>
                  <a:pt x="0" y="1038225"/>
                </a:moveTo>
                <a:lnTo>
                  <a:pt x="0" y="0"/>
                </a:lnTo>
                <a:lnTo>
                  <a:pt x="285750" y="0"/>
                </a:lnTo>
              </a:path>
            </a:pathLst>
          </a:custGeom>
          <a:noFill/>
          <a:ln w="16193">
            <a:solidFill>
              <a:srgbClr val="A5AFB4"/>
            </a:solidFill>
          </a:ln>
        </p:spPr>
        <p:txBody>
          <a:bodyPr/>
          <a:lstStyle/>
          <a:p>
            <a:endParaRPr lang="de-DE"/>
          </a:p>
        </p:txBody>
      </p:sp>
      <p:sp>
        <p:nvSpPr>
          <p:cNvPr id="52" name="path-51">
            <a:extLst>
              <a:ext uri="{FF2B5EF4-FFF2-40B4-BE49-F238E27FC236}">
                <a16:creationId xmlns:a16="http://schemas.microsoft.com/office/drawing/2014/main" id="{D05A2E58-4011-45DC-A1BB-03B5F4062EDA}"/>
              </a:ext>
            </a:extLst>
          </p:cNvPr>
          <p:cNvSpPr>
            <a:spLocks noGrp="1"/>
          </p:cNvSpPr>
          <p:nvPr/>
        </p:nvSpPr>
        <p:spPr>
          <a:xfrm>
            <a:off x="176212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53" name="label-52">
            <a:extLst>
              <a:ext uri="{FF2B5EF4-FFF2-40B4-BE49-F238E27FC236}">
                <a16:creationId xmlns:a16="http://schemas.microsoft.com/office/drawing/2014/main" id="{D14BBCAB-E591-4C50-95D7-0E68E329E55C}"/>
              </a:ext>
            </a:extLst>
          </p:cNvPr>
          <p:cNvSpPr>
            <a:spLocks noGrp="1"/>
          </p:cNvSpPr>
          <p:nvPr/>
        </p:nvSpPr>
        <p:spPr>
          <a:xfrm>
            <a:off x="19812000" y="666750"/>
            <a:ext cx="533400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1977</a:t>
            </a:r>
          </a:p>
        </p:txBody>
      </p:sp>
      <p:sp>
        <p:nvSpPr>
          <p:cNvPr id="54" name="label-53">
            <a:extLst>
              <a:ext uri="{FF2B5EF4-FFF2-40B4-BE49-F238E27FC236}">
                <a16:creationId xmlns:a16="http://schemas.microsoft.com/office/drawing/2014/main" id="{E88D4B06-E66A-4E32-8DD9-925497A3F71D}"/>
              </a:ext>
            </a:extLst>
          </p:cNvPr>
          <p:cNvSpPr>
            <a:spLocks noGrp="1"/>
          </p:cNvSpPr>
          <p:nvPr/>
        </p:nvSpPr>
        <p:spPr>
          <a:xfrm>
            <a:off x="19812000" y="1047750"/>
            <a:ext cx="53340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Expectation maximization</a:t>
            </a:r>
          </a:p>
        </p:txBody>
      </p:sp>
      <p:sp>
        <p:nvSpPr>
          <p:cNvPr id="55" name="label-54">
            <a:extLst>
              <a:ext uri="{FF2B5EF4-FFF2-40B4-BE49-F238E27FC236}">
                <a16:creationId xmlns:a16="http://schemas.microsoft.com/office/drawing/2014/main" id="{A08ED5AC-C099-4926-9304-4B096167F60D}"/>
              </a:ext>
            </a:extLst>
          </p:cNvPr>
          <p:cNvSpPr>
            <a:spLocks noGrp="1"/>
          </p:cNvSpPr>
          <p:nvPr/>
        </p:nvSpPr>
        <p:spPr>
          <a:xfrm>
            <a:off x="19812000" y="1466850"/>
            <a:ext cx="53340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Dempster, Laird &amp; Rubin</a:t>
            </a:r>
          </a:p>
        </p:txBody>
      </p:sp>
      <p:sp>
        <p:nvSpPr>
          <p:cNvPr id="56" name="path-55">
            <a:extLst>
              <a:ext uri="{FF2B5EF4-FFF2-40B4-BE49-F238E27FC236}">
                <a16:creationId xmlns:a16="http://schemas.microsoft.com/office/drawing/2014/main" id="{FA7C6B37-32B3-4EEA-B564-D2F5939F18B4}"/>
              </a:ext>
            </a:extLst>
          </p:cNvPr>
          <p:cNvSpPr>
            <a:spLocks noGrp="1"/>
          </p:cNvSpPr>
          <p:nvPr/>
        </p:nvSpPr>
        <p:spPr>
          <a:xfrm>
            <a:off x="20193000" y="2238375"/>
            <a:ext cx="285750" cy="4524375"/>
          </a:xfrm>
          <a:custGeom>
            <a:avLst/>
            <a:gdLst/>
            <a:ahLst/>
            <a:cxnLst/>
            <a:rect l="0" t="0" r="0" b="0"/>
            <a:pathLst>
              <a:path w="285750" h="4524375">
                <a:moveTo>
                  <a:pt x="0" y="4524375"/>
                </a:moveTo>
                <a:lnTo>
                  <a:pt x="0" y="0"/>
                </a:lnTo>
                <a:lnTo>
                  <a:pt x="285750" y="0"/>
                </a:lnTo>
              </a:path>
            </a:pathLst>
          </a:custGeom>
          <a:noFill/>
          <a:ln w="16193">
            <a:solidFill>
              <a:srgbClr val="A5AFB4"/>
            </a:solidFill>
          </a:ln>
        </p:spPr>
        <p:txBody>
          <a:bodyPr/>
          <a:lstStyle/>
          <a:p>
            <a:endParaRPr lang="de-DE"/>
          </a:p>
        </p:txBody>
      </p:sp>
      <p:sp>
        <p:nvSpPr>
          <p:cNvPr id="57" name="path-56">
            <a:extLst>
              <a:ext uri="{FF2B5EF4-FFF2-40B4-BE49-F238E27FC236}">
                <a16:creationId xmlns:a16="http://schemas.microsoft.com/office/drawing/2014/main" id="{7EB0C6CE-65E5-4125-8EAB-7EAE5A1C3DA0}"/>
              </a:ext>
            </a:extLst>
          </p:cNvPr>
          <p:cNvSpPr>
            <a:spLocks noGrp="1"/>
          </p:cNvSpPr>
          <p:nvPr/>
        </p:nvSpPr>
        <p:spPr>
          <a:xfrm>
            <a:off x="2019300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58" name="label-57">
            <a:extLst>
              <a:ext uri="{FF2B5EF4-FFF2-40B4-BE49-F238E27FC236}">
                <a16:creationId xmlns:a16="http://schemas.microsoft.com/office/drawing/2014/main" id="{B09F3097-928E-427E-AC27-45CCE0858F28}"/>
              </a:ext>
            </a:extLst>
          </p:cNvPr>
          <p:cNvSpPr>
            <a:spLocks noGrp="1"/>
          </p:cNvSpPr>
          <p:nvPr/>
        </p:nvSpPr>
        <p:spPr>
          <a:xfrm>
            <a:off x="21431250" y="4048125"/>
            <a:ext cx="342900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1997</a:t>
            </a:r>
          </a:p>
        </p:txBody>
      </p:sp>
      <p:sp>
        <p:nvSpPr>
          <p:cNvPr id="59" name="label-58">
            <a:extLst>
              <a:ext uri="{FF2B5EF4-FFF2-40B4-BE49-F238E27FC236}">
                <a16:creationId xmlns:a16="http://schemas.microsoft.com/office/drawing/2014/main" id="{9000FFFA-022B-4AB6-901A-1902F25EB578}"/>
              </a:ext>
            </a:extLst>
          </p:cNvPr>
          <p:cNvSpPr>
            <a:spLocks noGrp="1"/>
          </p:cNvSpPr>
          <p:nvPr/>
        </p:nvSpPr>
        <p:spPr>
          <a:xfrm>
            <a:off x="21431250" y="4429125"/>
            <a:ext cx="34290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“Statistics =</a:t>
            </a:r>
          </a:p>
        </p:txBody>
      </p:sp>
      <p:sp>
        <p:nvSpPr>
          <p:cNvPr id="60" name="label-59">
            <a:extLst>
              <a:ext uri="{FF2B5EF4-FFF2-40B4-BE49-F238E27FC236}">
                <a16:creationId xmlns:a16="http://schemas.microsoft.com/office/drawing/2014/main" id="{23DF9066-C9AE-481C-A538-852F0F5393E9}"/>
              </a:ext>
            </a:extLst>
          </p:cNvPr>
          <p:cNvSpPr>
            <a:spLocks noGrp="1"/>
          </p:cNvSpPr>
          <p:nvPr/>
        </p:nvSpPr>
        <p:spPr>
          <a:xfrm>
            <a:off x="21431250" y="4848225"/>
            <a:ext cx="342900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Data Science?”</a:t>
            </a:r>
          </a:p>
        </p:txBody>
      </p:sp>
      <p:sp>
        <p:nvSpPr>
          <p:cNvPr id="61" name="label-60">
            <a:extLst>
              <a:ext uri="{FF2B5EF4-FFF2-40B4-BE49-F238E27FC236}">
                <a16:creationId xmlns:a16="http://schemas.microsoft.com/office/drawing/2014/main" id="{C9B1A46F-CCF1-410C-ACFA-8317D39B9840}"/>
              </a:ext>
            </a:extLst>
          </p:cNvPr>
          <p:cNvSpPr>
            <a:spLocks noGrp="1"/>
          </p:cNvSpPr>
          <p:nvPr/>
        </p:nvSpPr>
        <p:spPr>
          <a:xfrm>
            <a:off x="21431250" y="5267325"/>
            <a:ext cx="34290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C. F. Jeff Wu</a:t>
            </a:r>
          </a:p>
        </p:txBody>
      </p:sp>
      <p:sp>
        <p:nvSpPr>
          <p:cNvPr id="62" name="path-61">
            <a:extLst>
              <a:ext uri="{FF2B5EF4-FFF2-40B4-BE49-F238E27FC236}">
                <a16:creationId xmlns:a16="http://schemas.microsoft.com/office/drawing/2014/main" id="{0A1728FC-81A6-4927-8940-2B4DB1471AA3}"/>
              </a:ext>
            </a:extLst>
          </p:cNvPr>
          <p:cNvSpPr>
            <a:spLocks noGrp="1"/>
          </p:cNvSpPr>
          <p:nvPr/>
        </p:nvSpPr>
        <p:spPr>
          <a:xfrm>
            <a:off x="21907500" y="6057900"/>
            <a:ext cx="333375" cy="704850"/>
          </a:xfrm>
          <a:custGeom>
            <a:avLst/>
            <a:gdLst/>
            <a:ahLst/>
            <a:cxnLst/>
            <a:rect l="0" t="0" r="0" b="0"/>
            <a:pathLst>
              <a:path w="333375" h="704850">
                <a:moveTo>
                  <a:pt x="0" y="704850"/>
                </a:moveTo>
                <a:lnTo>
                  <a:pt x="0" y="0"/>
                </a:lnTo>
                <a:lnTo>
                  <a:pt x="333375" y="0"/>
                </a:lnTo>
              </a:path>
            </a:pathLst>
          </a:custGeom>
          <a:noFill/>
          <a:ln w="16193">
            <a:solidFill>
              <a:srgbClr val="A5AFB4"/>
            </a:solidFill>
          </a:ln>
        </p:spPr>
        <p:txBody>
          <a:bodyPr/>
          <a:lstStyle/>
          <a:p>
            <a:endParaRPr lang="de-DE"/>
          </a:p>
        </p:txBody>
      </p:sp>
      <p:sp>
        <p:nvSpPr>
          <p:cNvPr id="63" name="path-62">
            <a:extLst>
              <a:ext uri="{FF2B5EF4-FFF2-40B4-BE49-F238E27FC236}">
                <a16:creationId xmlns:a16="http://schemas.microsoft.com/office/drawing/2014/main" id="{F89924E5-428F-4B78-B516-E9FCF8955402}"/>
              </a:ext>
            </a:extLst>
          </p:cNvPr>
          <p:cNvSpPr>
            <a:spLocks noGrp="1"/>
          </p:cNvSpPr>
          <p:nvPr/>
        </p:nvSpPr>
        <p:spPr>
          <a:xfrm>
            <a:off x="2190750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64" name="label-63">
            <a:extLst>
              <a:ext uri="{FF2B5EF4-FFF2-40B4-BE49-F238E27FC236}">
                <a16:creationId xmlns:a16="http://schemas.microsoft.com/office/drawing/2014/main" id="{2409631C-011A-475F-A438-FA8BE915D14F}"/>
              </a:ext>
            </a:extLst>
          </p:cNvPr>
          <p:cNvSpPr>
            <a:spLocks noGrp="1"/>
          </p:cNvSpPr>
          <p:nvPr/>
        </p:nvSpPr>
        <p:spPr>
          <a:xfrm>
            <a:off x="24955500" y="571500"/>
            <a:ext cx="5429250" cy="383858"/>
          </a:xfrm>
          <a:prstGeom prst="rect">
            <a:avLst/>
          </a:prstGeom>
          <a:noFill/>
          <a:ln w="0">
            <a:noFill/>
          </a:ln>
        </p:spPr>
        <p:txBody>
          <a:bodyPr wrap="none" lIns="0" tIns="0" rIns="0" bIns="0">
            <a:noAutofit/>
          </a:bodyPr>
          <a:lstStyle/>
          <a:p>
            <a:pPr>
              <a:defRPr sz="2325" b="1">
                <a:solidFill>
                  <a:srgbClr val="3987BB"/>
                </a:solidFill>
                <a:latin typeface="Calibri"/>
                <a:ea typeface="Calibri"/>
                <a:cs typeface="Calibri"/>
              </a:defRPr>
            </a:pPr>
            <a:r>
              <a:rPr sz="2325" b="1">
                <a:solidFill>
                  <a:srgbClr val="3987BB"/>
                </a:solidFill>
                <a:latin typeface="Calibri"/>
                <a:ea typeface="Calibri"/>
                <a:cs typeface="Calibri"/>
              </a:rPr>
              <a:t>Late 1990s</a:t>
            </a:r>
          </a:p>
        </p:txBody>
      </p:sp>
      <p:sp>
        <p:nvSpPr>
          <p:cNvPr id="65" name="label-64">
            <a:extLst>
              <a:ext uri="{FF2B5EF4-FFF2-40B4-BE49-F238E27FC236}">
                <a16:creationId xmlns:a16="http://schemas.microsoft.com/office/drawing/2014/main" id="{C47627E0-404E-463B-8F0C-1CE67CDB1FD4}"/>
              </a:ext>
            </a:extLst>
          </p:cNvPr>
          <p:cNvSpPr>
            <a:spLocks noGrp="1"/>
          </p:cNvSpPr>
          <p:nvPr/>
        </p:nvSpPr>
        <p:spPr>
          <a:xfrm>
            <a:off x="24955500" y="952500"/>
            <a:ext cx="5429250" cy="445770"/>
          </a:xfrm>
          <a:prstGeom prst="rect">
            <a:avLst/>
          </a:prstGeom>
          <a:noFill/>
          <a:ln w="0">
            <a:noFill/>
          </a:ln>
        </p:spPr>
        <p:txBody>
          <a:bodyPr wrap="none" lIns="0" tIns="0" rIns="0" bIns="0">
            <a:noAutofit/>
          </a:bodyPr>
          <a:lstStyle/>
          <a:p>
            <a:pPr>
              <a:defRPr sz="2700" b="1">
                <a:solidFill>
                  <a:srgbClr val="3987BB"/>
                </a:solidFill>
                <a:latin typeface="Calibri"/>
                <a:ea typeface="Calibri"/>
                <a:cs typeface="Calibri"/>
              </a:defRPr>
            </a:pPr>
            <a:r>
              <a:rPr sz="2700" b="1">
                <a:solidFill>
                  <a:srgbClr val="3987BB"/>
                </a:solidFill>
                <a:latin typeface="Calibri"/>
                <a:ea typeface="Calibri"/>
                <a:cs typeface="Calibri"/>
              </a:rPr>
              <a:t>Variational inference</a:t>
            </a:r>
          </a:p>
        </p:txBody>
      </p:sp>
      <p:sp>
        <p:nvSpPr>
          <p:cNvPr id="66" name="label-65">
            <a:extLst>
              <a:ext uri="{FF2B5EF4-FFF2-40B4-BE49-F238E27FC236}">
                <a16:creationId xmlns:a16="http://schemas.microsoft.com/office/drawing/2014/main" id="{6A1C9066-C590-41A0-8624-3367E871011F}"/>
              </a:ext>
            </a:extLst>
          </p:cNvPr>
          <p:cNvSpPr>
            <a:spLocks noGrp="1"/>
          </p:cNvSpPr>
          <p:nvPr/>
        </p:nvSpPr>
        <p:spPr>
          <a:xfrm>
            <a:off x="24955500" y="1371600"/>
            <a:ext cx="5429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Jordan, Ghahramani,</a:t>
            </a:r>
          </a:p>
        </p:txBody>
      </p:sp>
      <p:sp>
        <p:nvSpPr>
          <p:cNvPr id="67" name="label-66">
            <a:extLst>
              <a:ext uri="{FF2B5EF4-FFF2-40B4-BE49-F238E27FC236}">
                <a16:creationId xmlns:a16="http://schemas.microsoft.com/office/drawing/2014/main" id="{2CC0AE7D-1707-4AFD-9131-00F8BE3C3BF6}"/>
              </a:ext>
            </a:extLst>
          </p:cNvPr>
          <p:cNvSpPr>
            <a:spLocks noGrp="1"/>
          </p:cNvSpPr>
          <p:nvPr/>
        </p:nvSpPr>
        <p:spPr>
          <a:xfrm>
            <a:off x="24955500" y="1724025"/>
            <a:ext cx="5429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Jaakkola &amp; Saul (1999)</a:t>
            </a:r>
          </a:p>
        </p:txBody>
      </p:sp>
      <p:sp>
        <p:nvSpPr>
          <p:cNvPr id="68" name="path-67">
            <a:extLst>
              <a:ext uri="{FF2B5EF4-FFF2-40B4-BE49-F238E27FC236}">
                <a16:creationId xmlns:a16="http://schemas.microsoft.com/office/drawing/2014/main" id="{A156437D-656F-44C2-9E20-D9404F28706B}"/>
              </a:ext>
            </a:extLst>
          </p:cNvPr>
          <p:cNvSpPr>
            <a:spLocks noGrp="1"/>
          </p:cNvSpPr>
          <p:nvPr/>
        </p:nvSpPr>
        <p:spPr>
          <a:xfrm>
            <a:off x="24479250" y="2514600"/>
            <a:ext cx="762000" cy="4248150"/>
          </a:xfrm>
          <a:custGeom>
            <a:avLst/>
            <a:gdLst/>
            <a:ahLst/>
            <a:cxnLst/>
            <a:rect l="0" t="0" r="0" b="0"/>
            <a:pathLst>
              <a:path w="762000" h="4248150">
                <a:moveTo>
                  <a:pt x="0" y="4248150"/>
                </a:moveTo>
                <a:lnTo>
                  <a:pt x="0" y="0"/>
                </a:lnTo>
                <a:lnTo>
                  <a:pt x="762000" y="0"/>
                </a:lnTo>
              </a:path>
            </a:pathLst>
          </a:custGeom>
          <a:noFill/>
          <a:ln w="16193">
            <a:solidFill>
              <a:srgbClr val="A5AFB4"/>
            </a:solidFill>
          </a:ln>
        </p:spPr>
        <p:txBody>
          <a:bodyPr/>
          <a:lstStyle/>
          <a:p>
            <a:endParaRPr lang="de-DE"/>
          </a:p>
        </p:txBody>
      </p:sp>
      <p:sp>
        <p:nvSpPr>
          <p:cNvPr id="69" name="path-68">
            <a:extLst>
              <a:ext uri="{FF2B5EF4-FFF2-40B4-BE49-F238E27FC236}">
                <a16:creationId xmlns:a16="http://schemas.microsoft.com/office/drawing/2014/main" id="{D627BC9E-7A6C-423A-8F80-A3DFE4D85886}"/>
              </a:ext>
            </a:extLst>
          </p:cNvPr>
          <p:cNvSpPr>
            <a:spLocks noGrp="1"/>
          </p:cNvSpPr>
          <p:nvPr/>
        </p:nvSpPr>
        <p:spPr>
          <a:xfrm>
            <a:off x="24479250" y="6610350"/>
            <a:ext cx="9525" cy="304800"/>
          </a:xfrm>
          <a:custGeom>
            <a:avLst/>
            <a:gdLst/>
            <a:ahLst/>
            <a:cxnLst/>
            <a:rect l="0" t="0" r="0" b="0"/>
            <a:pathLst>
              <a:path w="9525" h="304800">
                <a:moveTo>
                  <a:pt x="0" y="0"/>
                </a:moveTo>
                <a:lnTo>
                  <a:pt x="0" y="304800"/>
                </a:lnTo>
              </a:path>
            </a:pathLst>
          </a:custGeom>
          <a:noFill/>
          <a:ln w="38100">
            <a:solidFill>
              <a:srgbClr val="3987BB"/>
            </a:solidFill>
          </a:ln>
        </p:spPr>
        <p:txBody>
          <a:bodyPr/>
          <a:lstStyle/>
          <a:p>
            <a:endParaRPr lang="de-DE"/>
          </a:p>
        </p:txBody>
      </p:sp>
      <p:sp>
        <p:nvSpPr>
          <p:cNvPr id="70" name="label-69">
            <a:extLst>
              <a:ext uri="{FF2B5EF4-FFF2-40B4-BE49-F238E27FC236}">
                <a16:creationId xmlns:a16="http://schemas.microsoft.com/office/drawing/2014/main" id="{0749CFF5-E2D0-47CA-9CFE-80773CC3A356}"/>
              </a:ext>
            </a:extLst>
          </p:cNvPr>
          <p:cNvSpPr>
            <a:spLocks noGrp="1"/>
          </p:cNvSpPr>
          <p:nvPr/>
        </p:nvSpPr>
        <p:spPr>
          <a:xfrm>
            <a:off x="25717500" y="3429000"/>
            <a:ext cx="4524375"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2015</a:t>
            </a:r>
          </a:p>
        </p:txBody>
      </p:sp>
      <p:sp>
        <p:nvSpPr>
          <p:cNvPr id="71" name="label-70">
            <a:extLst>
              <a:ext uri="{FF2B5EF4-FFF2-40B4-BE49-F238E27FC236}">
                <a16:creationId xmlns:a16="http://schemas.microsoft.com/office/drawing/2014/main" id="{2ADA2BCC-D251-428D-8A6F-66CD8D7E5946}"/>
              </a:ext>
            </a:extLst>
          </p:cNvPr>
          <p:cNvSpPr>
            <a:spLocks noGrp="1"/>
          </p:cNvSpPr>
          <p:nvPr/>
        </p:nvSpPr>
        <p:spPr>
          <a:xfrm>
            <a:off x="25717500" y="3810000"/>
            <a:ext cx="4524375"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Deep learning</a:t>
            </a:r>
          </a:p>
        </p:txBody>
      </p:sp>
      <p:sp>
        <p:nvSpPr>
          <p:cNvPr id="72" name="label-71">
            <a:extLst>
              <a:ext uri="{FF2B5EF4-FFF2-40B4-BE49-F238E27FC236}">
                <a16:creationId xmlns:a16="http://schemas.microsoft.com/office/drawing/2014/main" id="{7403BA9D-7C12-4ED4-8671-13C638F2757C}"/>
              </a:ext>
            </a:extLst>
          </p:cNvPr>
          <p:cNvSpPr>
            <a:spLocks noGrp="1"/>
          </p:cNvSpPr>
          <p:nvPr/>
        </p:nvSpPr>
        <p:spPr>
          <a:xfrm>
            <a:off x="25717500" y="4229100"/>
            <a:ext cx="452437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LeCun, Bengio &amp; Hinton</a:t>
            </a:r>
          </a:p>
        </p:txBody>
      </p:sp>
      <p:sp>
        <p:nvSpPr>
          <p:cNvPr id="73" name="path-72">
            <a:extLst>
              <a:ext uri="{FF2B5EF4-FFF2-40B4-BE49-F238E27FC236}">
                <a16:creationId xmlns:a16="http://schemas.microsoft.com/office/drawing/2014/main" id="{5A9B5ABB-E932-4BD3-B9E5-C9B0ABD88F5B}"/>
              </a:ext>
            </a:extLst>
          </p:cNvPr>
          <p:cNvSpPr>
            <a:spLocks noGrp="1"/>
          </p:cNvSpPr>
          <p:nvPr/>
        </p:nvSpPr>
        <p:spPr>
          <a:xfrm>
            <a:off x="26479500" y="5019675"/>
            <a:ext cx="285750" cy="2013564"/>
          </a:xfrm>
          <a:custGeom>
            <a:avLst/>
            <a:gdLst/>
            <a:ahLst/>
            <a:cxnLst/>
            <a:rect l="0" t="0" r="0" b="0"/>
            <a:pathLst>
              <a:path w="285750" h="2013564">
                <a:moveTo>
                  <a:pt x="0" y="2013564"/>
                </a:moveTo>
                <a:lnTo>
                  <a:pt x="0" y="0"/>
                </a:lnTo>
                <a:lnTo>
                  <a:pt x="285750" y="0"/>
                </a:lnTo>
              </a:path>
            </a:pathLst>
          </a:custGeom>
          <a:noFill/>
          <a:ln w="16193">
            <a:solidFill>
              <a:srgbClr val="A5AFB4"/>
            </a:solidFill>
          </a:ln>
        </p:spPr>
        <p:txBody>
          <a:bodyPr/>
          <a:lstStyle/>
          <a:p>
            <a:endParaRPr lang="de-DE"/>
          </a:p>
        </p:txBody>
      </p:sp>
      <p:sp>
        <p:nvSpPr>
          <p:cNvPr id="74" name="path-73">
            <a:extLst>
              <a:ext uri="{FF2B5EF4-FFF2-40B4-BE49-F238E27FC236}">
                <a16:creationId xmlns:a16="http://schemas.microsoft.com/office/drawing/2014/main" id="{D47DBE17-7E51-481F-84C5-45D6B2C0ABA2}"/>
              </a:ext>
            </a:extLst>
          </p:cNvPr>
          <p:cNvSpPr>
            <a:spLocks noGrp="1"/>
          </p:cNvSpPr>
          <p:nvPr/>
        </p:nvSpPr>
        <p:spPr>
          <a:xfrm>
            <a:off x="26479500" y="6880839"/>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75" name="label-74">
            <a:extLst>
              <a:ext uri="{FF2B5EF4-FFF2-40B4-BE49-F238E27FC236}">
                <a16:creationId xmlns:a16="http://schemas.microsoft.com/office/drawing/2014/main" id="{EFDD247B-C65A-4354-BD6F-3E0D0CD5CD5B}"/>
              </a:ext>
            </a:extLst>
          </p:cNvPr>
          <p:cNvSpPr>
            <a:spLocks noGrp="1"/>
          </p:cNvSpPr>
          <p:nvPr/>
        </p:nvSpPr>
        <p:spPr>
          <a:xfrm>
            <a:off x="29051250" y="1619250"/>
            <a:ext cx="3286125"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2017</a:t>
            </a:r>
          </a:p>
        </p:txBody>
      </p:sp>
      <p:sp>
        <p:nvSpPr>
          <p:cNvPr id="76" name="label-75">
            <a:extLst>
              <a:ext uri="{FF2B5EF4-FFF2-40B4-BE49-F238E27FC236}">
                <a16:creationId xmlns:a16="http://schemas.microsoft.com/office/drawing/2014/main" id="{5318A757-2A65-4555-8EA5-97780C34E4D0}"/>
              </a:ext>
            </a:extLst>
          </p:cNvPr>
          <p:cNvSpPr>
            <a:spLocks noGrp="1"/>
          </p:cNvSpPr>
          <p:nvPr/>
        </p:nvSpPr>
        <p:spPr>
          <a:xfrm>
            <a:off x="29051250" y="2000250"/>
            <a:ext cx="3286125"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Transformers</a:t>
            </a:r>
          </a:p>
        </p:txBody>
      </p:sp>
      <p:sp>
        <p:nvSpPr>
          <p:cNvPr id="77" name="label-76">
            <a:extLst>
              <a:ext uri="{FF2B5EF4-FFF2-40B4-BE49-F238E27FC236}">
                <a16:creationId xmlns:a16="http://schemas.microsoft.com/office/drawing/2014/main" id="{C5B17B67-008A-42EE-BF8D-B22A33D6D971}"/>
              </a:ext>
            </a:extLst>
          </p:cNvPr>
          <p:cNvSpPr>
            <a:spLocks noGrp="1"/>
          </p:cNvSpPr>
          <p:nvPr/>
        </p:nvSpPr>
        <p:spPr>
          <a:xfrm>
            <a:off x="29051250" y="2419350"/>
            <a:ext cx="328612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Vaswani et al.</a:t>
            </a:r>
          </a:p>
        </p:txBody>
      </p:sp>
      <p:sp>
        <p:nvSpPr>
          <p:cNvPr id="78" name="path-77">
            <a:extLst>
              <a:ext uri="{FF2B5EF4-FFF2-40B4-BE49-F238E27FC236}">
                <a16:creationId xmlns:a16="http://schemas.microsoft.com/office/drawing/2014/main" id="{4F99925F-F0D8-44A9-B7F0-D65AC39F5923}"/>
              </a:ext>
            </a:extLst>
          </p:cNvPr>
          <p:cNvSpPr>
            <a:spLocks noGrp="1"/>
          </p:cNvSpPr>
          <p:nvPr/>
        </p:nvSpPr>
        <p:spPr>
          <a:xfrm>
            <a:off x="29241750" y="3200400"/>
            <a:ext cx="285750" cy="3802060"/>
          </a:xfrm>
          <a:custGeom>
            <a:avLst/>
            <a:gdLst/>
            <a:ahLst/>
            <a:cxnLst/>
            <a:rect l="0" t="0" r="0" b="0"/>
            <a:pathLst>
              <a:path w="285750" h="3802060">
                <a:moveTo>
                  <a:pt x="0" y="3802060"/>
                </a:moveTo>
                <a:lnTo>
                  <a:pt x="0" y="0"/>
                </a:lnTo>
                <a:lnTo>
                  <a:pt x="285750" y="0"/>
                </a:lnTo>
              </a:path>
            </a:pathLst>
          </a:custGeom>
          <a:noFill/>
          <a:ln w="16193">
            <a:solidFill>
              <a:srgbClr val="A5AFB4"/>
            </a:solidFill>
          </a:ln>
        </p:spPr>
        <p:txBody>
          <a:bodyPr/>
          <a:lstStyle/>
          <a:p>
            <a:endParaRPr lang="de-DE"/>
          </a:p>
        </p:txBody>
      </p:sp>
      <p:sp>
        <p:nvSpPr>
          <p:cNvPr id="79" name="path-78">
            <a:extLst>
              <a:ext uri="{FF2B5EF4-FFF2-40B4-BE49-F238E27FC236}">
                <a16:creationId xmlns:a16="http://schemas.microsoft.com/office/drawing/2014/main" id="{AE8B489D-1156-4AD4-AD79-4ACF74D66FBB}"/>
              </a:ext>
            </a:extLst>
          </p:cNvPr>
          <p:cNvSpPr>
            <a:spLocks noGrp="1"/>
          </p:cNvSpPr>
          <p:nvPr/>
        </p:nvSpPr>
        <p:spPr>
          <a:xfrm>
            <a:off x="29241750" y="6850060"/>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80" name="label-79">
            <a:extLst>
              <a:ext uri="{FF2B5EF4-FFF2-40B4-BE49-F238E27FC236}">
                <a16:creationId xmlns:a16="http://schemas.microsoft.com/office/drawing/2014/main" id="{844C128D-4B99-4728-9A3D-083AD5E0B024}"/>
              </a:ext>
            </a:extLst>
          </p:cNvPr>
          <p:cNvSpPr>
            <a:spLocks noGrp="1"/>
          </p:cNvSpPr>
          <p:nvPr/>
        </p:nvSpPr>
        <p:spPr>
          <a:xfrm>
            <a:off x="29908500" y="4695825"/>
            <a:ext cx="238125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2022</a:t>
            </a:r>
          </a:p>
        </p:txBody>
      </p:sp>
      <p:sp>
        <p:nvSpPr>
          <p:cNvPr id="81" name="label-80">
            <a:extLst>
              <a:ext uri="{FF2B5EF4-FFF2-40B4-BE49-F238E27FC236}">
                <a16:creationId xmlns:a16="http://schemas.microsoft.com/office/drawing/2014/main" id="{A95874D9-C8B0-4CE8-AAB5-AE0582396E9C}"/>
              </a:ext>
            </a:extLst>
          </p:cNvPr>
          <p:cNvSpPr>
            <a:spLocks noGrp="1"/>
          </p:cNvSpPr>
          <p:nvPr/>
        </p:nvSpPr>
        <p:spPr>
          <a:xfrm>
            <a:off x="29908500" y="5076825"/>
            <a:ext cx="238125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ChatGPT</a:t>
            </a:r>
          </a:p>
        </p:txBody>
      </p:sp>
      <p:sp>
        <p:nvSpPr>
          <p:cNvPr id="82" name="label-81">
            <a:extLst>
              <a:ext uri="{FF2B5EF4-FFF2-40B4-BE49-F238E27FC236}">
                <a16:creationId xmlns:a16="http://schemas.microsoft.com/office/drawing/2014/main" id="{6048E937-CC81-4CA3-981C-0D96410C746D}"/>
              </a:ext>
            </a:extLst>
          </p:cNvPr>
          <p:cNvSpPr>
            <a:spLocks noGrp="1"/>
          </p:cNvSpPr>
          <p:nvPr/>
        </p:nvSpPr>
        <p:spPr>
          <a:xfrm>
            <a:off x="29908500" y="5495925"/>
            <a:ext cx="2381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OpenAI</a:t>
            </a:r>
          </a:p>
        </p:txBody>
      </p:sp>
      <p:sp>
        <p:nvSpPr>
          <p:cNvPr id="83" name="path-82">
            <a:extLst>
              <a:ext uri="{FF2B5EF4-FFF2-40B4-BE49-F238E27FC236}">
                <a16:creationId xmlns:a16="http://schemas.microsoft.com/office/drawing/2014/main" id="{114E6712-FA05-4D67-9EE0-EE9D48B14A3D}"/>
              </a:ext>
            </a:extLst>
          </p:cNvPr>
          <p:cNvSpPr>
            <a:spLocks noGrp="1"/>
          </p:cNvSpPr>
          <p:nvPr/>
        </p:nvSpPr>
        <p:spPr>
          <a:xfrm>
            <a:off x="30765750" y="6276975"/>
            <a:ext cx="285750" cy="723912"/>
          </a:xfrm>
          <a:custGeom>
            <a:avLst/>
            <a:gdLst/>
            <a:ahLst/>
            <a:cxnLst/>
            <a:rect l="0" t="0" r="0" b="0"/>
            <a:pathLst>
              <a:path w="285750" h="723912">
                <a:moveTo>
                  <a:pt x="0" y="723912"/>
                </a:moveTo>
                <a:lnTo>
                  <a:pt x="0" y="0"/>
                </a:lnTo>
                <a:lnTo>
                  <a:pt x="285750" y="0"/>
                </a:lnTo>
              </a:path>
            </a:pathLst>
          </a:custGeom>
          <a:noFill/>
          <a:ln w="16193">
            <a:solidFill>
              <a:srgbClr val="A5AFB4"/>
            </a:solidFill>
          </a:ln>
        </p:spPr>
        <p:txBody>
          <a:bodyPr/>
          <a:lstStyle/>
          <a:p>
            <a:endParaRPr lang="de-DE"/>
          </a:p>
        </p:txBody>
      </p:sp>
      <p:sp>
        <p:nvSpPr>
          <p:cNvPr id="84" name="path-83">
            <a:extLst>
              <a:ext uri="{FF2B5EF4-FFF2-40B4-BE49-F238E27FC236}">
                <a16:creationId xmlns:a16="http://schemas.microsoft.com/office/drawing/2014/main" id="{B9A05017-DA9D-41D0-8703-435577B2466A}"/>
              </a:ext>
            </a:extLst>
          </p:cNvPr>
          <p:cNvSpPr>
            <a:spLocks noGrp="1"/>
          </p:cNvSpPr>
          <p:nvPr/>
        </p:nvSpPr>
        <p:spPr>
          <a:xfrm>
            <a:off x="30765750" y="6848487"/>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85" name="path-84">
            <a:extLst>
              <a:ext uri="{FF2B5EF4-FFF2-40B4-BE49-F238E27FC236}">
                <a16:creationId xmlns:a16="http://schemas.microsoft.com/office/drawing/2014/main" id="{D3444161-0232-4D43-BD92-0A2704119A32}"/>
              </a:ext>
            </a:extLst>
          </p:cNvPr>
          <p:cNvSpPr>
            <a:spLocks noGrp="1"/>
          </p:cNvSpPr>
          <p:nvPr/>
        </p:nvSpPr>
        <p:spPr>
          <a:xfrm>
            <a:off x="3571875" y="10766685"/>
            <a:ext cx="333375" cy="1139565"/>
          </a:xfrm>
          <a:custGeom>
            <a:avLst/>
            <a:gdLst/>
            <a:ahLst/>
            <a:cxnLst/>
            <a:rect l="0" t="0" r="0" b="0"/>
            <a:pathLst>
              <a:path w="333375" h="1139565">
                <a:moveTo>
                  <a:pt x="0" y="0"/>
                </a:moveTo>
                <a:lnTo>
                  <a:pt x="0" y="1139565"/>
                </a:lnTo>
                <a:lnTo>
                  <a:pt x="333375" y="1139565"/>
                </a:lnTo>
              </a:path>
            </a:pathLst>
          </a:custGeom>
          <a:noFill/>
          <a:ln w="16193">
            <a:solidFill>
              <a:srgbClr val="A5AFB4"/>
            </a:solidFill>
          </a:ln>
        </p:spPr>
        <p:txBody>
          <a:bodyPr/>
          <a:lstStyle/>
          <a:p>
            <a:endParaRPr lang="de-DE"/>
          </a:p>
        </p:txBody>
      </p:sp>
      <p:sp>
        <p:nvSpPr>
          <p:cNvPr id="86" name="path-85">
            <a:extLst>
              <a:ext uri="{FF2B5EF4-FFF2-40B4-BE49-F238E27FC236}">
                <a16:creationId xmlns:a16="http://schemas.microsoft.com/office/drawing/2014/main" id="{5C550091-B4F6-4B71-9280-DD045C206E6F}"/>
              </a:ext>
            </a:extLst>
          </p:cNvPr>
          <p:cNvSpPr>
            <a:spLocks noGrp="1"/>
          </p:cNvSpPr>
          <p:nvPr/>
        </p:nvSpPr>
        <p:spPr>
          <a:xfrm>
            <a:off x="3571875" y="10614285"/>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87" name="label-86">
            <a:extLst>
              <a:ext uri="{FF2B5EF4-FFF2-40B4-BE49-F238E27FC236}">
                <a16:creationId xmlns:a16="http://schemas.microsoft.com/office/drawing/2014/main" id="{1C57CF99-9055-494A-B324-8B75B44AEE9D}"/>
              </a:ext>
            </a:extLst>
          </p:cNvPr>
          <p:cNvSpPr>
            <a:spLocks noGrp="1"/>
          </p:cNvSpPr>
          <p:nvPr/>
        </p:nvSpPr>
        <p:spPr>
          <a:xfrm>
            <a:off x="2190750" y="12192000"/>
            <a:ext cx="371475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1795 / 1805</a:t>
            </a:r>
          </a:p>
        </p:txBody>
      </p:sp>
      <p:sp>
        <p:nvSpPr>
          <p:cNvPr id="88" name="label-87">
            <a:extLst>
              <a:ext uri="{FF2B5EF4-FFF2-40B4-BE49-F238E27FC236}">
                <a16:creationId xmlns:a16="http://schemas.microsoft.com/office/drawing/2014/main" id="{34B9B28F-4FC2-4D74-8DAE-9879629D9672}"/>
              </a:ext>
            </a:extLst>
          </p:cNvPr>
          <p:cNvSpPr>
            <a:spLocks noGrp="1"/>
          </p:cNvSpPr>
          <p:nvPr/>
        </p:nvSpPr>
        <p:spPr>
          <a:xfrm>
            <a:off x="2190750" y="12573000"/>
            <a:ext cx="371475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Least squares</a:t>
            </a:r>
          </a:p>
        </p:txBody>
      </p:sp>
      <p:sp>
        <p:nvSpPr>
          <p:cNvPr id="89" name="label-88">
            <a:extLst>
              <a:ext uri="{FF2B5EF4-FFF2-40B4-BE49-F238E27FC236}">
                <a16:creationId xmlns:a16="http://schemas.microsoft.com/office/drawing/2014/main" id="{885B6EDD-EDDE-4747-9FF4-825D68252E58}"/>
              </a:ext>
            </a:extLst>
          </p:cNvPr>
          <p:cNvSpPr>
            <a:spLocks noGrp="1"/>
          </p:cNvSpPr>
          <p:nvPr/>
        </p:nvSpPr>
        <p:spPr>
          <a:xfrm>
            <a:off x="2190750" y="12992100"/>
            <a:ext cx="37147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Gauss / Legendre</a:t>
            </a:r>
          </a:p>
        </p:txBody>
      </p:sp>
      <p:pic>
        <p:nvPicPr>
          <p:cNvPr id="258" name="Grafik 257"/>
          <p:cNvPicPr>
            <a:picLocks noChangeAspect="1"/>
          </p:cNvPicPr>
          <p:nvPr/>
        </p:nvPicPr>
        <p:blipFill>
          <a:blip r:embed="rId6"/>
          <a:stretch/>
        </p:blipFill>
        <p:spPr>
          <a:xfrm>
            <a:off x="2239840" y="14001750"/>
            <a:ext cx="1044819" cy="1181100"/>
          </a:xfrm>
          <a:prstGeom prst="rect">
            <a:avLst/>
          </a:prstGeom>
        </p:spPr>
      </p:pic>
      <p:sp>
        <p:nvSpPr>
          <p:cNvPr id="91" name="label-90">
            <a:extLst>
              <a:ext uri="{FF2B5EF4-FFF2-40B4-BE49-F238E27FC236}">
                <a16:creationId xmlns:a16="http://schemas.microsoft.com/office/drawing/2014/main" id="{8616C272-3C06-42F4-9275-B9C7DADFFA8E}"/>
              </a:ext>
            </a:extLst>
          </p:cNvPr>
          <p:cNvSpPr>
            <a:spLocks noGrp="1"/>
          </p:cNvSpPr>
          <p:nvPr/>
        </p:nvSpPr>
        <p:spPr>
          <a:xfrm>
            <a:off x="3571875" y="14382750"/>
            <a:ext cx="3333750" cy="334328"/>
          </a:xfrm>
          <a:prstGeom prst="rect">
            <a:avLst/>
          </a:prstGeom>
          <a:noFill/>
          <a:ln w="0">
            <a:noFill/>
          </a:ln>
        </p:spPr>
        <p:txBody>
          <a:bodyPr wrap="none" lIns="0" tIns="0" rIns="0" bIns="0">
            <a:noAutofit/>
          </a:bodyPr>
          <a:lstStyle/>
          <a:p>
            <a:pPr>
              <a:defRPr sz="2025" b="0">
                <a:solidFill>
                  <a:srgbClr val="64727A"/>
                </a:solidFill>
                <a:latin typeface="Calibri"/>
                <a:ea typeface="Calibri"/>
                <a:cs typeface="Calibri"/>
              </a:defRPr>
            </a:pPr>
            <a:r>
              <a:rPr sz="2025" b="0">
                <a:solidFill>
                  <a:srgbClr val="64727A"/>
                </a:solidFill>
                <a:latin typeface="Calibri"/>
                <a:ea typeface="Calibri"/>
                <a:cs typeface="Calibri"/>
              </a:rPr>
              <a:t>Carl Friedrich Gauss</a:t>
            </a:r>
          </a:p>
        </p:txBody>
      </p:sp>
      <p:sp>
        <p:nvSpPr>
          <p:cNvPr id="92" name="path-91">
            <a:extLst>
              <a:ext uri="{FF2B5EF4-FFF2-40B4-BE49-F238E27FC236}">
                <a16:creationId xmlns:a16="http://schemas.microsoft.com/office/drawing/2014/main" id="{1EED743B-0AE4-4790-BF58-249FAB9C909C}"/>
              </a:ext>
            </a:extLst>
          </p:cNvPr>
          <p:cNvSpPr>
            <a:spLocks noGrp="1"/>
          </p:cNvSpPr>
          <p:nvPr/>
        </p:nvSpPr>
        <p:spPr>
          <a:xfrm>
            <a:off x="7096125" y="10792512"/>
            <a:ext cx="333375" cy="827988"/>
          </a:xfrm>
          <a:custGeom>
            <a:avLst/>
            <a:gdLst/>
            <a:ahLst/>
            <a:cxnLst/>
            <a:rect l="0" t="0" r="0" b="0"/>
            <a:pathLst>
              <a:path w="333375" h="827988">
                <a:moveTo>
                  <a:pt x="0" y="0"/>
                </a:moveTo>
                <a:lnTo>
                  <a:pt x="0" y="827988"/>
                </a:lnTo>
                <a:lnTo>
                  <a:pt x="333375" y="827988"/>
                </a:lnTo>
              </a:path>
            </a:pathLst>
          </a:custGeom>
          <a:noFill/>
          <a:ln w="16193">
            <a:solidFill>
              <a:srgbClr val="A5AFB4"/>
            </a:solidFill>
          </a:ln>
        </p:spPr>
        <p:txBody>
          <a:bodyPr/>
          <a:lstStyle/>
          <a:p>
            <a:endParaRPr lang="de-DE"/>
          </a:p>
        </p:txBody>
      </p:sp>
      <p:sp>
        <p:nvSpPr>
          <p:cNvPr id="93" name="path-92">
            <a:extLst>
              <a:ext uri="{FF2B5EF4-FFF2-40B4-BE49-F238E27FC236}">
                <a16:creationId xmlns:a16="http://schemas.microsoft.com/office/drawing/2014/main" id="{A43426F0-0B82-4464-BC09-475EAD655BC4}"/>
              </a:ext>
            </a:extLst>
          </p:cNvPr>
          <p:cNvSpPr>
            <a:spLocks noGrp="1"/>
          </p:cNvSpPr>
          <p:nvPr/>
        </p:nvSpPr>
        <p:spPr>
          <a:xfrm>
            <a:off x="7096125" y="10640112"/>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94" name="label-93">
            <a:extLst>
              <a:ext uri="{FF2B5EF4-FFF2-40B4-BE49-F238E27FC236}">
                <a16:creationId xmlns:a16="http://schemas.microsoft.com/office/drawing/2014/main" id="{95D147D6-EDAF-4301-9332-DBB91F5D9B75}"/>
              </a:ext>
            </a:extLst>
          </p:cNvPr>
          <p:cNvSpPr>
            <a:spLocks noGrp="1"/>
          </p:cNvSpPr>
          <p:nvPr/>
        </p:nvSpPr>
        <p:spPr>
          <a:xfrm>
            <a:off x="6381750" y="11906250"/>
            <a:ext cx="438150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1901</a:t>
            </a:r>
          </a:p>
        </p:txBody>
      </p:sp>
      <p:sp>
        <p:nvSpPr>
          <p:cNvPr id="95" name="label-94">
            <a:extLst>
              <a:ext uri="{FF2B5EF4-FFF2-40B4-BE49-F238E27FC236}">
                <a16:creationId xmlns:a16="http://schemas.microsoft.com/office/drawing/2014/main" id="{83DDCCCE-4FE0-4005-B4FA-F8A7152A5F60}"/>
              </a:ext>
            </a:extLst>
          </p:cNvPr>
          <p:cNvSpPr>
            <a:spLocks noGrp="1"/>
          </p:cNvSpPr>
          <p:nvPr/>
        </p:nvSpPr>
        <p:spPr>
          <a:xfrm>
            <a:off x="6381750" y="12287250"/>
            <a:ext cx="438150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Principal components</a:t>
            </a:r>
          </a:p>
        </p:txBody>
      </p:sp>
      <p:sp>
        <p:nvSpPr>
          <p:cNvPr id="96" name="label-95">
            <a:extLst>
              <a:ext uri="{FF2B5EF4-FFF2-40B4-BE49-F238E27FC236}">
                <a16:creationId xmlns:a16="http://schemas.microsoft.com/office/drawing/2014/main" id="{09368761-F5C0-40DD-A6F2-AF1EFAB2B7F0}"/>
              </a:ext>
            </a:extLst>
          </p:cNvPr>
          <p:cNvSpPr>
            <a:spLocks noGrp="1"/>
          </p:cNvSpPr>
          <p:nvPr/>
        </p:nvSpPr>
        <p:spPr>
          <a:xfrm>
            <a:off x="6381750" y="12706350"/>
            <a:ext cx="4381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Karl Pearson</a:t>
            </a:r>
          </a:p>
        </p:txBody>
      </p:sp>
      <p:sp>
        <p:nvSpPr>
          <p:cNvPr id="97" name="label-96">
            <a:extLst>
              <a:ext uri="{FF2B5EF4-FFF2-40B4-BE49-F238E27FC236}">
                <a16:creationId xmlns:a16="http://schemas.microsoft.com/office/drawing/2014/main" id="{E5B7AC0A-2498-4DD8-9AE6-19D9AAC1A5AA}"/>
              </a:ext>
            </a:extLst>
          </p:cNvPr>
          <p:cNvSpPr>
            <a:spLocks noGrp="1"/>
          </p:cNvSpPr>
          <p:nvPr/>
        </p:nvSpPr>
        <p:spPr>
          <a:xfrm>
            <a:off x="11811000" y="7772400"/>
            <a:ext cx="504825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1946–1953</a:t>
            </a:r>
          </a:p>
        </p:txBody>
      </p:sp>
      <p:sp>
        <p:nvSpPr>
          <p:cNvPr id="98" name="label-97">
            <a:extLst>
              <a:ext uri="{FF2B5EF4-FFF2-40B4-BE49-F238E27FC236}">
                <a16:creationId xmlns:a16="http://schemas.microsoft.com/office/drawing/2014/main" id="{FDB58DBB-7731-4897-8F2B-8AFDAAA1BCAE}"/>
              </a:ext>
            </a:extLst>
          </p:cNvPr>
          <p:cNvSpPr>
            <a:spLocks noGrp="1"/>
          </p:cNvSpPr>
          <p:nvPr/>
        </p:nvSpPr>
        <p:spPr>
          <a:xfrm>
            <a:off x="11811000" y="8153400"/>
            <a:ext cx="504825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Monte Carlo &amp; MCMC</a:t>
            </a:r>
          </a:p>
        </p:txBody>
      </p:sp>
      <p:sp>
        <p:nvSpPr>
          <p:cNvPr id="99" name="label-98">
            <a:extLst>
              <a:ext uri="{FF2B5EF4-FFF2-40B4-BE49-F238E27FC236}">
                <a16:creationId xmlns:a16="http://schemas.microsoft.com/office/drawing/2014/main" id="{AA239D3B-E722-4930-9838-0E51A8493A94}"/>
              </a:ext>
            </a:extLst>
          </p:cNvPr>
          <p:cNvSpPr>
            <a:spLocks noGrp="1"/>
          </p:cNvSpPr>
          <p:nvPr/>
        </p:nvSpPr>
        <p:spPr>
          <a:xfrm>
            <a:off x="11811000" y="8572500"/>
            <a:ext cx="5048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Postwar Los Alamos</a:t>
            </a:r>
          </a:p>
        </p:txBody>
      </p:sp>
      <p:sp>
        <p:nvSpPr>
          <p:cNvPr id="100" name="label-99">
            <a:extLst>
              <a:ext uri="{FF2B5EF4-FFF2-40B4-BE49-F238E27FC236}">
                <a16:creationId xmlns:a16="http://schemas.microsoft.com/office/drawing/2014/main" id="{11305243-2E39-495F-B579-20FB6F51A40C}"/>
              </a:ext>
            </a:extLst>
          </p:cNvPr>
          <p:cNvSpPr>
            <a:spLocks noGrp="1"/>
          </p:cNvSpPr>
          <p:nvPr/>
        </p:nvSpPr>
        <p:spPr>
          <a:xfrm>
            <a:off x="11811000" y="8924925"/>
            <a:ext cx="5048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Metropolis algorithm (1953)</a:t>
            </a:r>
          </a:p>
        </p:txBody>
      </p:sp>
      <p:sp>
        <p:nvSpPr>
          <p:cNvPr id="101" name="path-100">
            <a:extLst>
              <a:ext uri="{FF2B5EF4-FFF2-40B4-BE49-F238E27FC236}">
                <a16:creationId xmlns:a16="http://schemas.microsoft.com/office/drawing/2014/main" id="{F1F7D9E6-C2B7-446A-9801-6573FB94BF8F}"/>
              </a:ext>
            </a:extLst>
          </p:cNvPr>
          <p:cNvSpPr>
            <a:spLocks noGrp="1"/>
          </p:cNvSpPr>
          <p:nvPr/>
        </p:nvSpPr>
        <p:spPr>
          <a:xfrm>
            <a:off x="13620750" y="9810750"/>
            <a:ext cx="381000" cy="847215"/>
          </a:xfrm>
          <a:custGeom>
            <a:avLst/>
            <a:gdLst/>
            <a:ahLst/>
            <a:cxnLst/>
            <a:rect l="0" t="0" r="0" b="0"/>
            <a:pathLst>
              <a:path w="381000" h="847215">
                <a:moveTo>
                  <a:pt x="0" y="847215"/>
                </a:moveTo>
                <a:lnTo>
                  <a:pt x="0" y="0"/>
                </a:lnTo>
                <a:lnTo>
                  <a:pt x="381000" y="0"/>
                </a:lnTo>
              </a:path>
            </a:pathLst>
          </a:custGeom>
          <a:noFill/>
          <a:ln w="16193">
            <a:solidFill>
              <a:srgbClr val="A5AFB4"/>
            </a:solidFill>
          </a:ln>
        </p:spPr>
        <p:txBody>
          <a:bodyPr/>
          <a:lstStyle/>
          <a:p>
            <a:endParaRPr lang="de-DE"/>
          </a:p>
        </p:txBody>
      </p:sp>
      <p:sp>
        <p:nvSpPr>
          <p:cNvPr id="102" name="path-101">
            <a:extLst>
              <a:ext uri="{FF2B5EF4-FFF2-40B4-BE49-F238E27FC236}">
                <a16:creationId xmlns:a16="http://schemas.microsoft.com/office/drawing/2014/main" id="{3D0E5EFC-CBD1-4DEB-80A3-1CC363BEE920}"/>
              </a:ext>
            </a:extLst>
          </p:cNvPr>
          <p:cNvSpPr>
            <a:spLocks noGrp="1"/>
          </p:cNvSpPr>
          <p:nvPr/>
        </p:nvSpPr>
        <p:spPr>
          <a:xfrm>
            <a:off x="13620750" y="10505565"/>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103" name="path-102">
            <a:extLst>
              <a:ext uri="{FF2B5EF4-FFF2-40B4-BE49-F238E27FC236}">
                <a16:creationId xmlns:a16="http://schemas.microsoft.com/office/drawing/2014/main" id="{8718D5F7-1B51-44FF-BFC9-4496E33593F0}"/>
              </a:ext>
            </a:extLst>
          </p:cNvPr>
          <p:cNvSpPr>
            <a:spLocks noGrp="1"/>
          </p:cNvSpPr>
          <p:nvPr/>
        </p:nvSpPr>
        <p:spPr>
          <a:xfrm>
            <a:off x="17145000" y="10007061"/>
            <a:ext cx="381000" cy="1613439"/>
          </a:xfrm>
          <a:custGeom>
            <a:avLst/>
            <a:gdLst/>
            <a:ahLst/>
            <a:cxnLst/>
            <a:rect l="0" t="0" r="0" b="0"/>
            <a:pathLst>
              <a:path w="381000" h="1613439">
                <a:moveTo>
                  <a:pt x="0" y="0"/>
                </a:moveTo>
                <a:lnTo>
                  <a:pt x="0" y="1613439"/>
                </a:lnTo>
                <a:lnTo>
                  <a:pt x="381000" y="1613439"/>
                </a:lnTo>
              </a:path>
            </a:pathLst>
          </a:custGeom>
          <a:noFill/>
          <a:ln w="16193">
            <a:solidFill>
              <a:srgbClr val="A5AFB4"/>
            </a:solidFill>
          </a:ln>
        </p:spPr>
        <p:txBody>
          <a:bodyPr/>
          <a:lstStyle/>
          <a:p>
            <a:endParaRPr lang="de-DE"/>
          </a:p>
        </p:txBody>
      </p:sp>
      <p:sp>
        <p:nvSpPr>
          <p:cNvPr id="104" name="path-103">
            <a:extLst>
              <a:ext uri="{FF2B5EF4-FFF2-40B4-BE49-F238E27FC236}">
                <a16:creationId xmlns:a16="http://schemas.microsoft.com/office/drawing/2014/main" id="{610FF667-BB16-4390-81D5-400C4F3CA9E5}"/>
              </a:ext>
            </a:extLst>
          </p:cNvPr>
          <p:cNvSpPr>
            <a:spLocks noGrp="1"/>
          </p:cNvSpPr>
          <p:nvPr/>
        </p:nvSpPr>
        <p:spPr>
          <a:xfrm>
            <a:off x="17145000" y="9854661"/>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105" name="label-104">
            <a:extLst>
              <a:ext uri="{FF2B5EF4-FFF2-40B4-BE49-F238E27FC236}">
                <a16:creationId xmlns:a16="http://schemas.microsoft.com/office/drawing/2014/main" id="{0FBA4CDF-A82C-4EA7-A6BE-C4F020237DCD}"/>
              </a:ext>
            </a:extLst>
          </p:cNvPr>
          <p:cNvSpPr>
            <a:spLocks noGrp="1"/>
          </p:cNvSpPr>
          <p:nvPr/>
        </p:nvSpPr>
        <p:spPr>
          <a:xfrm>
            <a:off x="15763875" y="11906250"/>
            <a:ext cx="4048125"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1967</a:t>
            </a:r>
          </a:p>
        </p:txBody>
      </p:sp>
      <p:sp>
        <p:nvSpPr>
          <p:cNvPr id="106" name="label-105">
            <a:extLst>
              <a:ext uri="{FF2B5EF4-FFF2-40B4-BE49-F238E27FC236}">
                <a16:creationId xmlns:a16="http://schemas.microsoft.com/office/drawing/2014/main" id="{E76A52B7-20D0-421A-A2F2-9669894CC1FD}"/>
              </a:ext>
            </a:extLst>
          </p:cNvPr>
          <p:cNvSpPr>
            <a:spLocks noGrp="1"/>
          </p:cNvSpPr>
          <p:nvPr/>
        </p:nvSpPr>
        <p:spPr>
          <a:xfrm>
            <a:off x="15763875" y="12287250"/>
            <a:ext cx="4048125"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Nearest neighbours</a:t>
            </a:r>
          </a:p>
        </p:txBody>
      </p:sp>
      <p:sp>
        <p:nvSpPr>
          <p:cNvPr id="107" name="label-106">
            <a:extLst>
              <a:ext uri="{FF2B5EF4-FFF2-40B4-BE49-F238E27FC236}">
                <a16:creationId xmlns:a16="http://schemas.microsoft.com/office/drawing/2014/main" id="{643C0ED3-1E5A-4141-917B-219F3B5B282F}"/>
              </a:ext>
            </a:extLst>
          </p:cNvPr>
          <p:cNvSpPr>
            <a:spLocks noGrp="1"/>
          </p:cNvSpPr>
          <p:nvPr/>
        </p:nvSpPr>
        <p:spPr>
          <a:xfrm>
            <a:off x="15763875" y="12706350"/>
            <a:ext cx="404812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Cover &amp; Hart</a:t>
            </a:r>
          </a:p>
        </p:txBody>
      </p:sp>
      <p:sp>
        <p:nvSpPr>
          <p:cNvPr id="108" name="path-107">
            <a:extLst>
              <a:ext uri="{FF2B5EF4-FFF2-40B4-BE49-F238E27FC236}">
                <a16:creationId xmlns:a16="http://schemas.microsoft.com/office/drawing/2014/main" id="{B0BAC1E8-2EA2-49FD-A5C3-3BF081AB24CF}"/>
              </a:ext>
            </a:extLst>
          </p:cNvPr>
          <p:cNvSpPr>
            <a:spLocks noGrp="1"/>
          </p:cNvSpPr>
          <p:nvPr/>
        </p:nvSpPr>
        <p:spPr>
          <a:xfrm>
            <a:off x="20955000" y="7953375"/>
            <a:ext cx="333375" cy="333375"/>
          </a:xfrm>
          <a:custGeom>
            <a:avLst/>
            <a:gdLst/>
            <a:ahLst/>
            <a:cxnLst/>
            <a:rect l="0" t="0" r="0" b="0"/>
            <a:pathLst>
              <a:path w="333375" h="333375">
                <a:moveTo>
                  <a:pt x="0" y="0"/>
                </a:moveTo>
                <a:lnTo>
                  <a:pt x="0" y="333375"/>
                </a:lnTo>
                <a:lnTo>
                  <a:pt x="333375" y="333375"/>
                </a:lnTo>
              </a:path>
            </a:pathLst>
          </a:custGeom>
          <a:noFill/>
          <a:ln w="16193">
            <a:solidFill>
              <a:srgbClr val="A5AFB4"/>
            </a:solidFill>
          </a:ln>
        </p:spPr>
        <p:txBody>
          <a:bodyPr/>
          <a:lstStyle/>
          <a:p>
            <a:endParaRPr lang="de-DE"/>
          </a:p>
        </p:txBody>
      </p:sp>
      <p:sp>
        <p:nvSpPr>
          <p:cNvPr id="109" name="path-108">
            <a:extLst>
              <a:ext uri="{FF2B5EF4-FFF2-40B4-BE49-F238E27FC236}">
                <a16:creationId xmlns:a16="http://schemas.microsoft.com/office/drawing/2014/main" id="{9AF65CBC-09C4-49F9-9F24-5A1304570C9D}"/>
              </a:ext>
            </a:extLst>
          </p:cNvPr>
          <p:cNvSpPr>
            <a:spLocks noGrp="1"/>
          </p:cNvSpPr>
          <p:nvPr/>
        </p:nvSpPr>
        <p:spPr>
          <a:xfrm>
            <a:off x="20955000" y="7800975"/>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pic>
        <p:nvPicPr>
          <p:cNvPr id="278" name="Grafik 277"/>
          <p:cNvPicPr>
            <a:picLocks noChangeAspect="1"/>
          </p:cNvPicPr>
          <p:nvPr/>
        </p:nvPicPr>
        <p:blipFill>
          <a:blip r:embed="rId7"/>
          <a:stretch/>
        </p:blipFill>
        <p:spPr>
          <a:xfrm>
            <a:off x="18478500" y="9814040"/>
            <a:ext cx="1200150" cy="1498369"/>
          </a:xfrm>
          <a:prstGeom prst="rect">
            <a:avLst/>
          </a:prstGeom>
        </p:spPr>
      </p:pic>
      <p:sp>
        <p:nvSpPr>
          <p:cNvPr id="111" name="label-110">
            <a:extLst>
              <a:ext uri="{FF2B5EF4-FFF2-40B4-BE49-F238E27FC236}">
                <a16:creationId xmlns:a16="http://schemas.microsoft.com/office/drawing/2014/main" id="{BC1E1A25-836F-43A1-8B43-B082A8D24E82}"/>
              </a:ext>
            </a:extLst>
          </p:cNvPr>
          <p:cNvSpPr>
            <a:spLocks noGrp="1"/>
          </p:cNvSpPr>
          <p:nvPr/>
        </p:nvSpPr>
        <p:spPr>
          <a:xfrm>
            <a:off x="20002500" y="8620125"/>
            <a:ext cx="428625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1986</a:t>
            </a:r>
          </a:p>
        </p:txBody>
      </p:sp>
      <p:sp>
        <p:nvSpPr>
          <p:cNvPr id="112" name="label-111">
            <a:extLst>
              <a:ext uri="{FF2B5EF4-FFF2-40B4-BE49-F238E27FC236}">
                <a16:creationId xmlns:a16="http://schemas.microsoft.com/office/drawing/2014/main" id="{265F9A1E-A7C7-462A-8F0D-52B5FAF70BED}"/>
              </a:ext>
            </a:extLst>
          </p:cNvPr>
          <p:cNvSpPr>
            <a:spLocks noGrp="1"/>
          </p:cNvSpPr>
          <p:nvPr/>
        </p:nvSpPr>
        <p:spPr>
          <a:xfrm>
            <a:off x="20002500" y="9001125"/>
            <a:ext cx="428625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Backpropagation</a:t>
            </a:r>
          </a:p>
        </p:txBody>
      </p:sp>
      <p:sp>
        <p:nvSpPr>
          <p:cNvPr id="113" name="label-112">
            <a:extLst>
              <a:ext uri="{FF2B5EF4-FFF2-40B4-BE49-F238E27FC236}">
                <a16:creationId xmlns:a16="http://schemas.microsoft.com/office/drawing/2014/main" id="{FA98507D-18D3-4A68-A4E3-26EB2D395B05}"/>
              </a:ext>
            </a:extLst>
          </p:cNvPr>
          <p:cNvSpPr>
            <a:spLocks noGrp="1"/>
          </p:cNvSpPr>
          <p:nvPr/>
        </p:nvSpPr>
        <p:spPr>
          <a:xfrm>
            <a:off x="20002500" y="9420225"/>
            <a:ext cx="4286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Rumelhart, Hinton</a:t>
            </a:r>
          </a:p>
        </p:txBody>
      </p:sp>
      <p:sp>
        <p:nvSpPr>
          <p:cNvPr id="114" name="label-113">
            <a:extLst>
              <a:ext uri="{FF2B5EF4-FFF2-40B4-BE49-F238E27FC236}">
                <a16:creationId xmlns:a16="http://schemas.microsoft.com/office/drawing/2014/main" id="{AEE12550-452B-4470-B4D0-EE4101CCA8F1}"/>
              </a:ext>
            </a:extLst>
          </p:cNvPr>
          <p:cNvSpPr>
            <a:spLocks noGrp="1"/>
          </p:cNvSpPr>
          <p:nvPr/>
        </p:nvSpPr>
        <p:spPr>
          <a:xfrm>
            <a:off x="20002500" y="9772650"/>
            <a:ext cx="4286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&amp; Williams</a:t>
            </a:r>
          </a:p>
        </p:txBody>
      </p:sp>
      <p:sp>
        <p:nvSpPr>
          <p:cNvPr id="115" name="label-114">
            <a:extLst>
              <a:ext uri="{FF2B5EF4-FFF2-40B4-BE49-F238E27FC236}">
                <a16:creationId xmlns:a16="http://schemas.microsoft.com/office/drawing/2014/main" id="{98893D69-39A6-4A2A-B498-5FAB8B005B26}"/>
              </a:ext>
            </a:extLst>
          </p:cNvPr>
          <p:cNvSpPr>
            <a:spLocks noGrp="1"/>
          </p:cNvSpPr>
          <p:nvPr/>
        </p:nvSpPr>
        <p:spPr>
          <a:xfrm>
            <a:off x="18288000" y="11468100"/>
            <a:ext cx="2381250" cy="309563"/>
          </a:xfrm>
          <a:prstGeom prst="rect">
            <a:avLst/>
          </a:prstGeom>
          <a:noFill/>
          <a:ln w="0">
            <a:noFill/>
          </a:ln>
        </p:spPr>
        <p:txBody>
          <a:bodyPr wrap="none" lIns="0" tIns="0" rIns="0" bIns="0">
            <a:noAutofit/>
          </a:bodyPr>
          <a:lstStyle/>
          <a:p>
            <a:pPr>
              <a:defRPr sz="1875" b="0">
                <a:solidFill>
                  <a:srgbClr val="64727A"/>
                </a:solidFill>
                <a:latin typeface="Calibri"/>
                <a:ea typeface="Calibri"/>
                <a:cs typeface="Calibri"/>
              </a:defRPr>
            </a:pPr>
            <a:r>
              <a:rPr sz="1875" b="0">
                <a:solidFill>
                  <a:srgbClr val="64727A"/>
                </a:solidFill>
                <a:latin typeface="Calibri"/>
                <a:ea typeface="Calibri"/>
                <a:cs typeface="Calibri"/>
              </a:rPr>
              <a:t>Geoffrey Hinton</a:t>
            </a:r>
          </a:p>
        </p:txBody>
      </p:sp>
      <p:sp>
        <p:nvSpPr>
          <p:cNvPr id="116" name="path-115">
            <a:extLst>
              <a:ext uri="{FF2B5EF4-FFF2-40B4-BE49-F238E27FC236}">
                <a16:creationId xmlns:a16="http://schemas.microsoft.com/office/drawing/2014/main" id="{6FDE1AE7-3ABF-4A72-B9BE-2A585A9D401A}"/>
              </a:ext>
            </a:extLst>
          </p:cNvPr>
          <p:cNvSpPr>
            <a:spLocks noGrp="1"/>
          </p:cNvSpPr>
          <p:nvPr/>
        </p:nvSpPr>
        <p:spPr>
          <a:xfrm>
            <a:off x="23812500" y="7191077"/>
            <a:ext cx="2381250" cy="5381923"/>
          </a:xfrm>
          <a:custGeom>
            <a:avLst/>
            <a:gdLst/>
            <a:ahLst/>
            <a:cxnLst/>
            <a:rect l="0" t="0" r="0" b="0"/>
            <a:pathLst>
              <a:path w="2381250" h="5381923">
                <a:moveTo>
                  <a:pt x="0" y="0"/>
                </a:moveTo>
                <a:lnTo>
                  <a:pt x="0" y="5381923"/>
                </a:lnTo>
                <a:lnTo>
                  <a:pt x="2381250" y="5381923"/>
                </a:lnTo>
              </a:path>
            </a:pathLst>
          </a:custGeom>
          <a:noFill/>
          <a:ln w="16193">
            <a:solidFill>
              <a:srgbClr val="A5AFB4"/>
            </a:solidFill>
          </a:ln>
        </p:spPr>
        <p:txBody>
          <a:bodyPr/>
          <a:lstStyle/>
          <a:p>
            <a:endParaRPr lang="de-DE"/>
          </a:p>
        </p:txBody>
      </p:sp>
      <p:sp>
        <p:nvSpPr>
          <p:cNvPr id="117" name="path-116">
            <a:extLst>
              <a:ext uri="{FF2B5EF4-FFF2-40B4-BE49-F238E27FC236}">
                <a16:creationId xmlns:a16="http://schemas.microsoft.com/office/drawing/2014/main" id="{F09A63F9-A1BC-4F23-8705-43F1741F4BFD}"/>
              </a:ext>
            </a:extLst>
          </p:cNvPr>
          <p:cNvSpPr>
            <a:spLocks noGrp="1"/>
          </p:cNvSpPr>
          <p:nvPr/>
        </p:nvSpPr>
        <p:spPr>
          <a:xfrm>
            <a:off x="23812500" y="7038677"/>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118" name="label-117">
            <a:extLst>
              <a:ext uri="{FF2B5EF4-FFF2-40B4-BE49-F238E27FC236}">
                <a16:creationId xmlns:a16="http://schemas.microsoft.com/office/drawing/2014/main" id="{A100576A-EF56-46C4-8D19-05E688AA29E7}"/>
              </a:ext>
            </a:extLst>
          </p:cNvPr>
          <p:cNvSpPr>
            <a:spLocks noGrp="1"/>
          </p:cNvSpPr>
          <p:nvPr/>
        </p:nvSpPr>
        <p:spPr>
          <a:xfrm>
            <a:off x="25812750" y="12858750"/>
            <a:ext cx="628650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1990s–2000s</a:t>
            </a:r>
          </a:p>
        </p:txBody>
      </p:sp>
      <p:sp>
        <p:nvSpPr>
          <p:cNvPr id="119" name="label-118">
            <a:extLst>
              <a:ext uri="{FF2B5EF4-FFF2-40B4-BE49-F238E27FC236}">
                <a16:creationId xmlns:a16="http://schemas.microsoft.com/office/drawing/2014/main" id="{3CA7A6DC-0EE1-4602-B810-72C4DB66930A}"/>
              </a:ext>
            </a:extLst>
          </p:cNvPr>
          <p:cNvSpPr>
            <a:spLocks noGrp="1"/>
          </p:cNvSpPr>
          <p:nvPr/>
        </p:nvSpPr>
        <p:spPr>
          <a:xfrm>
            <a:off x="25812750" y="13239750"/>
            <a:ext cx="628650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Machine learning</a:t>
            </a:r>
          </a:p>
        </p:txBody>
      </p:sp>
      <p:sp>
        <p:nvSpPr>
          <p:cNvPr id="120" name="label-119">
            <a:extLst>
              <a:ext uri="{FF2B5EF4-FFF2-40B4-BE49-F238E27FC236}">
                <a16:creationId xmlns:a16="http://schemas.microsoft.com/office/drawing/2014/main" id="{DAD0D522-8D40-4A17-A322-3468DF07AFBD}"/>
              </a:ext>
            </a:extLst>
          </p:cNvPr>
          <p:cNvSpPr>
            <a:spLocks noGrp="1"/>
          </p:cNvSpPr>
          <p:nvPr/>
        </p:nvSpPr>
        <p:spPr>
          <a:xfrm>
            <a:off x="25812750" y="13658850"/>
            <a:ext cx="6286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Support vector machines (1995)</a:t>
            </a:r>
          </a:p>
        </p:txBody>
      </p:sp>
      <p:sp>
        <p:nvSpPr>
          <p:cNvPr id="121" name="label-120">
            <a:extLst>
              <a:ext uri="{FF2B5EF4-FFF2-40B4-BE49-F238E27FC236}">
                <a16:creationId xmlns:a16="http://schemas.microsoft.com/office/drawing/2014/main" id="{52D1A4B6-6440-417A-A496-91F493469E21}"/>
              </a:ext>
            </a:extLst>
          </p:cNvPr>
          <p:cNvSpPr>
            <a:spLocks noGrp="1"/>
          </p:cNvSpPr>
          <p:nvPr/>
        </p:nvSpPr>
        <p:spPr>
          <a:xfrm>
            <a:off x="25812750" y="14011275"/>
            <a:ext cx="6286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Random forests (2001)</a:t>
            </a:r>
          </a:p>
        </p:txBody>
      </p:sp>
      <p:sp>
        <p:nvSpPr>
          <p:cNvPr id="122" name="path-121">
            <a:extLst>
              <a:ext uri="{FF2B5EF4-FFF2-40B4-BE49-F238E27FC236}">
                <a16:creationId xmlns:a16="http://schemas.microsoft.com/office/drawing/2014/main" id="{709937B4-C04D-4C1B-93E7-8889020F9B74}"/>
              </a:ext>
            </a:extLst>
          </p:cNvPr>
          <p:cNvSpPr>
            <a:spLocks noGrp="1"/>
          </p:cNvSpPr>
          <p:nvPr/>
        </p:nvSpPr>
        <p:spPr>
          <a:xfrm>
            <a:off x="26003250" y="7047132"/>
            <a:ext cx="1428750" cy="3335118"/>
          </a:xfrm>
          <a:custGeom>
            <a:avLst/>
            <a:gdLst/>
            <a:ahLst/>
            <a:cxnLst/>
            <a:rect l="0" t="0" r="0" b="0"/>
            <a:pathLst>
              <a:path w="1428750" h="3335118">
                <a:moveTo>
                  <a:pt x="0" y="0"/>
                </a:moveTo>
                <a:lnTo>
                  <a:pt x="0" y="3335118"/>
                </a:lnTo>
                <a:lnTo>
                  <a:pt x="1428750" y="3335118"/>
                </a:lnTo>
              </a:path>
            </a:pathLst>
          </a:custGeom>
          <a:noFill/>
          <a:ln w="16193">
            <a:solidFill>
              <a:srgbClr val="A5AFB4"/>
            </a:solidFill>
          </a:ln>
        </p:spPr>
        <p:txBody>
          <a:bodyPr/>
          <a:lstStyle/>
          <a:p>
            <a:endParaRPr lang="de-DE"/>
          </a:p>
        </p:txBody>
      </p:sp>
      <p:sp>
        <p:nvSpPr>
          <p:cNvPr id="123" name="path-122">
            <a:extLst>
              <a:ext uri="{FF2B5EF4-FFF2-40B4-BE49-F238E27FC236}">
                <a16:creationId xmlns:a16="http://schemas.microsoft.com/office/drawing/2014/main" id="{8D86E0B0-F1F2-4ADA-AACE-D934E09F3E82}"/>
              </a:ext>
            </a:extLst>
          </p:cNvPr>
          <p:cNvSpPr>
            <a:spLocks noGrp="1"/>
          </p:cNvSpPr>
          <p:nvPr/>
        </p:nvSpPr>
        <p:spPr>
          <a:xfrm>
            <a:off x="26003250" y="6894732"/>
            <a:ext cx="9525" cy="304800"/>
          </a:xfrm>
          <a:custGeom>
            <a:avLst/>
            <a:gdLst/>
            <a:ahLst/>
            <a:cxnLst/>
            <a:rect l="0" t="0" r="0" b="0"/>
            <a:pathLst>
              <a:path w="9525" h="304800">
                <a:moveTo>
                  <a:pt x="0" y="0"/>
                </a:moveTo>
                <a:lnTo>
                  <a:pt x="0" y="304800"/>
                </a:lnTo>
              </a:path>
            </a:pathLst>
          </a:custGeom>
          <a:noFill/>
          <a:ln w="38100">
            <a:solidFill>
              <a:srgbClr val="318C76"/>
            </a:solidFill>
          </a:ln>
        </p:spPr>
        <p:txBody>
          <a:bodyPr/>
          <a:lstStyle/>
          <a:p>
            <a:endParaRPr lang="de-DE"/>
          </a:p>
        </p:txBody>
      </p:sp>
      <p:sp>
        <p:nvSpPr>
          <p:cNvPr id="124" name="label-123">
            <a:extLst>
              <a:ext uri="{FF2B5EF4-FFF2-40B4-BE49-F238E27FC236}">
                <a16:creationId xmlns:a16="http://schemas.microsoft.com/office/drawing/2014/main" id="{50D5A518-F07B-4B7A-AD17-36B5850559ED}"/>
              </a:ext>
            </a:extLst>
          </p:cNvPr>
          <p:cNvSpPr>
            <a:spLocks noGrp="1"/>
          </p:cNvSpPr>
          <p:nvPr/>
        </p:nvSpPr>
        <p:spPr>
          <a:xfrm>
            <a:off x="27146250" y="10668000"/>
            <a:ext cx="4762500" cy="383858"/>
          </a:xfrm>
          <a:prstGeom prst="rect">
            <a:avLst/>
          </a:prstGeom>
          <a:noFill/>
          <a:ln w="0">
            <a:noFill/>
          </a:ln>
        </p:spPr>
        <p:txBody>
          <a:bodyPr wrap="none" lIns="0" tIns="0" rIns="0" bIns="0">
            <a:noAutofit/>
          </a:bodyPr>
          <a:lstStyle/>
          <a:p>
            <a:pPr>
              <a:defRPr sz="2325" b="1">
                <a:solidFill>
                  <a:srgbClr val="318C76"/>
                </a:solidFill>
                <a:latin typeface="Calibri"/>
                <a:ea typeface="Calibri"/>
                <a:cs typeface="Calibri"/>
              </a:defRPr>
            </a:pPr>
            <a:r>
              <a:rPr sz="2325" b="1">
                <a:solidFill>
                  <a:srgbClr val="318C76"/>
                </a:solidFill>
                <a:latin typeface="Calibri"/>
                <a:ea typeface="Calibri"/>
                <a:cs typeface="Calibri"/>
              </a:rPr>
              <a:t>2012</a:t>
            </a:r>
          </a:p>
        </p:txBody>
      </p:sp>
      <p:sp>
        <p:nvSpPr>
          <p:cNvPr id="125" name="label-124">
            <a:extLst>
              <a:ext uri="{FF2B5EF4-FFF2-40B4-BE49-F238E27FC236}">
                <a16:creationId xmlns:a16="http://schemas.microsoft.com/office/drawing/2014/main" id="{B2387542-12AE-41B8-B126-22BDBB1C92A7}"/>
              </a:ext>
            </a:extLst>
          </p:cNvPr>
          <p:cNvSpPr>
            <a:spLocks noGrp="1"/>
          </p:cNvSpPr>
          <p:nvPr/>
        </p:nvSpPr>
        <p:spPr>
          <a:xfrm>
            <a:off x="27146250" y="11049000"/>
            <a:ext cx="4762500" cy="445770"/>
          </a:xfrm>
          <a:prstGeom prst="rect">
            <a:avLst/>
          </a:prstGeom>
          <a:noFill/>
          <a:ln w="0">
            <a:noFill/>
          </a:ln>
        </p:spPr>
        <p:txBody>
          <a:bodyPr wrap="none" lIns="0" tIns="0" rIns="0" bIns="0">
            <a:noAutofit/>
          </a:bodyPr>
          <a:lstStyle/>
          <a:p>
            <a:pPr>
              <a:defRPr sz="2700" b="1">
                <a:solidFill>
                  <a:srgbClr val="318C76"/>
                </a:solidFill>
                <a:latin typeface="Calibri"/>
                <a:ea typeface="Calibri"/>
                <a:cs typeface="Calibri"/>
              </a:defRPr>
            </a:pPr>
            <a:r>
              <a:rPr sz="2700" b="1">
                <a:solidFill>
                  <a:srgbClr val="318C76"/>
                </a:solidFill>
                <a:latin typeface="Calibri"/>
                <a:ea typeface="Calibri"/>
                <a:cs typeface="Calibri"/>
              </a:rPr>
              <a:t>AlexNet</a:t>
            </a:r>
          </a:p>
        </p:txBody>
      </p:sp>
      <p:sp>
        <p:nvSpPr>
          <p:cNvPr id="126" name="label-125">
            <a:extLst>
              <a:ext uri="{FF2B5EF4-FFF2-40B4-BE49-F238E27FC236}">
                <a16:creationId xmlns:a16="http://schemas.microsoft.com/office/drawing/2014/main" id="{5BECDC94-D404-469D-BC48-307726873BD2}"/>
              </a:ext>
            </a:extLst>
          </p:cNvPr>
          <p:cNvSpPr>
            <a:spLocks noGrp="1"/>
          </p:cNvSpPr>
          <p:nvPr/>
        </p:nvSpPr>
        <p:spPr>
          <a:xfrm>
            <a:off x="27146250" y="11468100"/>
            <a:ext cx="4762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ImageNet breakthrough</a:t>
            </a:r>
          </a:p>
        </p:txBody>
      </p:sp>
      <p:sp>
        <p:nvSpPr>
          <p:cNvPr id="127" name="path-126">
            <a:extLst>
              <a:ext uri="{FF2B5EF4-FFF2-40B4-BE49-F238E27FC236}">
                <a16:creationId xmlns:a16="http://schemas.microsoft.com/office/drawing/2014/main" id="{98A39400-725D-4311-AA7A-47367D4BE5E8}"/>
              </a:ext>
            </a:extLst>
          </p:cNvPr>
          <p:cNvSpPr>
            <a:spLocks noGrp="1"/>
          </p:cNvSpPr>
          <p:nvPr/>
        </p:nvSpPr>
        <p:spPr>
          <a:xfrm>
            <a:off x="10668000" y="15252236"/>
            <a:ext cx="381000" cy="1035514"/>
          </a:xfrm>
          <a:custGeom>
            <a:avLst/>
            <a:gdLst/>
            <a:ahLst/>
            <a:cxnLst/>
            <a:rect l="0" t="0" r="0" b="0"/>
            <a:pathLst>
              <a:path w="381000" h="1035514">
                <a:moveTo>
                  <a:pt x="0" y="0"/>
                </a:moveTo>
                <a:lnTo>
                  <a:pt x="0" y="1035514"/>
                </a:lnTo>
                <a:lnTo>
                  <a:pt x="381000" y="1035514"/>
                </a:lnTo>
              </a:path>
            </a:pathLst>
          </a:custGeom>
          <a:noFill/>
          <a:ln w="16193">
            <a:solidFill>
              <a:srgbClr val="A5AFB4"/>
            </a:solidFill>
          </a:ln>
        </p:spPr>
        <p:txBody>
          <a:bodyPr/>
          <a:lstStyle/>
          <a:p>
            <a:endParaRPr lang="de-DE"/>
          </a:p>
        </p:txBody>
      </p:sp>
      <p:sp>
        <p:nvSpPr>
          <p:cNvPr id="128" name="path-127">
            <a:extLst>
              <a:ext uri="{FF2B5EF4-FFF2-40B4-BE49-F238E27FC236}">
                <a16:creationId xmlns:a16="http://schemas.microsoft.com/office/drawing/2014/main" id="{C6BC098F-D498-4559-A3B2-691D9513FED8}"/>
              </a:ext>
            </a:extLst>
          </p:cNvPr>
          <p:cNvSpPr>
            <a:spLocks noGrp="1"/>
          </p:cNvSpPr>
          <p:nvPr/>
        </p:nvSpPr>
        <p:spPr>
          <a:xfrm>
            <a:off x="10668000" y="15099836"/>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29" name="label-128">
            <a:extLst>
              <a:ext uri="{FF2B5EF4-FFF2-40B4-BE49-F238E27FC236}">
                <a16:creationId xmlns:a16="http://schemas.microsoft.com/office/drawing/2014/main" id="{96326AD8-E007-4945-8A3D-F2E5898790B5}"/>
              </a:ext>
            </a:extLst>
          </p:cNvPr>
          <p:cNvSpPr>
            <a:spLocks noGrp="1"/>
          </p:cNvSpPr>
          <p:nvPr/>
        </p:nvSpPr>
        <p:spPr>
          <a:xfrm>
            <a:off x="9239250" y="16573500"/>
            <a:ext cx="4048125"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1936</a:t>
            </a:r>
          </a:p>
        </p:txBody>
      </p:sp>
      <p:sp>
        <p:nvSpPr>
          <p:cNvPr id="130" name="label-129">
            <a:extLst>
              <a:ext uri="{FF2B5EF4-FFF2-40B4-BE49-F238E27FC236}">
                <a16:creationId xmlns:a16="http://schemas.microsoft.com/office/drawing/2014/main" id="{95F0FA2D-0A50-4338-A1A3-55900CF6F806}"/>
              </a:ext>
            </a:extLst>
          </p:cNvPr>
          <p:cNvSpPr>
            <a:spLocks noGrp="1"/>
          </p:cNvSpPr>
          <p:nvPr/>
        </p:nvSpPr>
        <p:spPr>
          <a:xfrm>
            <a:off x="9239250" y="16954500"/>
            <a:ext cx="4048125"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Universal computation</a:t>
            </a:r>
          </a:p>
        </p:txBody>
      </p:sp>
      <p:sp>
        <p:nvSpPr>
          <p:cNvPr id="131" name="label-130">
            <a:extLst>
              <a:ext uri="{FF2B5EF4-FFF2-40B4-BE49-F238E27FC236}">
                <a16:creationId xmlns:a16="http://schemas.microsoft.com/office/drawing/2014/main" id="{C7EDE976-51C2-4D9B-A758-9C07BA7E1162}"/>
              </a:ext>
            </a:extLst>
          </p:cNvPr>
          <p:cNvSpPr>
            <a:spLocks noGrp="1"/>
          </p:cNvSpPr>
          <p:nvPr/>
        </p:nvSpPr>
        <p:spPr>
          <a:xfrm>
            <a:off x="9239250" y="17373600"/>
            <a:ext cx="404812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Alan Turing</a:t>
            </a:r>
          </a:p>
        </p:txBody>
      </p:sp>
      <p:sp>
        <p:nvSpPr>
          <p:cNvPr id="132" name="path-131">
            <a:extLst>
              <a:ext uri="{FF2B5EF4-FFF2-40B4-BE49-F238E27FC236}">
                <a16:creationId xmlns:a16="http://schemas.microsoft.com/office/drawing/2014/main" id="{FC5F692A-EA5F-49FE-892B-A9674A1EB40E}"/>
              </a:ext>
            </a:extLst>
          </p:cNvPr>
          <p:cNvSpPr>
            <a:spLocks noGrp="1"/>
          </p:cNvSpPr>
          <p:nvPr/>
        </p:nvSpPr>
        <p:spPr>
          <a:xfrm>
            <a:off x="13620750" y="14478000"/>
            <a:ext cx="333375" cy="599041"/>
          </a:xfrm>
          <a:custGeom>
            <a:avLst/>
            <a:gdLst/>
            <a:ahLst/>
            <a:cxnLst/>
            <a:rect l="0" t="0" r="0" b="0"/>
            <a:pathLst>
              <a:path w="333375" h="599041">
                <a:moveTo>
                  <a:pt x="0" y="599041"/>
                </a:moveTo>
                <a:lnTo>
                  <a:pt x="0" y="0"/>
                </a:lnTo>
                <a:lnTo>
                  <a:pt x="333375" y="0"/>
                </a:lnTo>
              </a:path>
            </a:pathLst>
          </a:custGeom>
          <a:noFill/>
          <a:ln w="16193">
            <a:solidFill>
              <a:srgbClr val="A5AFB4"/>
            </a:solidFill>
          </a:ln>
        </p:spPr>
        <p:txBody>
          <a:bodyPr/>
          <a:lstStyle/>
          <a:p>
            <a:endParaRPr lang="de-DE"/>
          </a:p>
        </p:txBody>
      </p:sp>
      <p:sp>
        <p:nvSpPr>
          <p:cNvPr id="133" name="path-132">
            <a:extLst>
              <a:ext uri="{FF2B5EF4-FFF2-40B4-BE49-F238E27FC236}">
                <a16:creationId xmlns:a16="http://schemas.microsoft.com/office/drawing/2014/main" id="{A629EBBE-7A47-4E47-9CE4-DE4809A38DAE}"/>
              </a:ext>
            </a:extLst>
          </p:cNvPr>
          <p:cNvSpPr>
            <a:spLocks noGrp="1"/>
          </p:cNvSpPr>
          <p:nvPr/>
        </p:nvSpPr>
        <p:spPr>
          <a:xfrm>
            <a:off x="13620750" y="14924641"/>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34" name="label-133">
            <a:extLst>
              <a:ext uri="{FF2B5EF4-FFF2-40B4-BE49-F238E27FC236}">
                <a16:creationId xmlns:a16="http://schemas.microsoft.com/office/drawing/2014/main" id="{84175223-7E52-40EA-BF60-3820EB9A49D9}"/>
              </a:ext>
            </a:extLst>
          </p:cNvPr>
          <p:cNvSpPr>
            <a:spLocks noGrp="1"/>
          </p:cNvSpPr>
          <p:nvPr/>
        </p:nvSpPr>
        <p:spPr>
          <a:xfrm>
            <a:off x="11525250" y="12458700"/>
            <a:ext cx="4333875"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1945</a:t>
            </a:r>
          </a:p>
        </p:txBody>
      </p:sp>
      <p:sp>
        <p:nvSpPr>
          <p:cNvPr id="135" name="label-134">
            <a:extLst>
              <a:ext uri="{FF2B5EF4-FFF2-40B4-BE49-F238E27FC236}">
                <a16:creationId xmlns:a16="http://schemas.microsoft.com/office/drawing/2014/main" id="{841FAC52-9F6E-4ED3-8D7A-C722EA7905EC}"/>
              </a:ext>
            </a:extLst>
          </p:cNvPr>
          <p:cNvSpPr>
            <a:spLocks noGrp="1"/>
          </p:cNvSpPr>
          <p:nvPr/>
        </p:nvSpPr>
        <p:spPr>
          <a:xfrm>
            <a:off x="11525250" y="12839700"/>
            <a:ext cx="4333875"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Stored-program</a:t>
            </a:r>
          </a:p>
        </p:txBody>
      </p:sp>
      <p:sp>
        <p:nvSpPr>
          <p:cNvPr id="136" name="label-135">
            <a:extLst>
              <a:ext uri="{FF2B5EF4-FFF2-40B4-BE49-F238E27FC236}">
                <a16:creationId xmlns:a16="http://schemas.microsoft.com/office/drawing/2014/main" id="{83C06278-72C0-41A3-812D-947413787CA2}"/>
              </a:ext>
            </a:extLst>
          </p:cNvPr>
          <p:cNvSpPr>
            <a:spLocks noGrp="1"/>
          </p:cNvSpPr>
          <p:nvPr/>
        </p:nvSpPr>
        <p:spPr>
          <a:xfrm>
            <a:off x="11525250" y="13258800"/>
            <a:ext cx="4333875"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architecture</a:t>
            </a:r>
          </a:p>
        </p:txBody>
      </p:sp>
      <p:sp>
        <p:nvSpPr>
          <p:cNvPr id="137" name="label-136">
            <a:extLst>
              <a:ext uri="{FF2B5EF4-FFF2-40B4-BE49-F238E27FC236}">
                <a16:creationId xmlns:a16="http://schemas.microsoft.com/office/drawing/2014/main" id="{976741C2-EFE0-4166-BC31-3A8295B6920D}"/>
              </a:ext>
            </a:extLst>
          </p:cNvPr>
          <p:cNvSpPr>
            <a:spLocks noGrp="1"/>
          </p:cNvSpPr>
          <p:nvPr/>
        </p:nvSpPr>
        <p:spPr>
          <a:xfrm>
            <a:off x="11525250" y="13677900"/>
            <a:ext cx="433387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John von Neumann</a:t>
            </a:r>
          </a:p>
        </p:txBody>
      </p:sp>
      <p:sp>
        <p:nvSpPr>
          <p:cNvPr id="138" name="path-137">
            <a:extLst>
              <a:ext uri="{FF2B5EF4-FFF2-40B4-BE49-F238E27FC236}">
                <a16:creationId xmlns:a16="http://schemas.microsoft.com/office/drawing/2014/main" id="{45718500-EED7-489B-8E5F-FC21D448B4A2}"/>
              </a:ext>
            </a:extLst>
          </p:cNvPr>
          <p:cNvSpPr>
            <a:spLocks noGrp="1"/>
          </p:cNvSpPr>
          <p:nvPr/>
        </p:nvSpPr>
        <p:spPr>
          <a:xfrm>
            <a:off x="16954500" y="14297530"/>
            <a:ext cx="285750" cy="2133095"/>
          </a:xfrm>
          <a:custGeom>
            <a:avLst/>
            <a:gdLst/>
            <a:ahLst/>
            <a:cxnLst/>
            <a:rect l="0" t="0" r="0" b="0"/>
            <a:pathLst>
              <a:path w="285750" h="2133095">
                <a:moveTo>
                  <a:pt x="0" y="0"/>
                </a:moveTo>
                <a:lnTo>
                  <a:pt x="0" y="2133095"/>
                </a:lnTo>
                <a:lnTo>
                  <a:pt x="285750" y="2133095"/>
                </a:lnTo>
              </a:path>
            </a:pathLst>
          </a:custGeom>
          <a:noFill/>
          <a:ln w="16193">
            <a:solidFill>
              <a:srgbClr val="A5AFB4"/>
            </a:solidFill>
          </a:ln>
        </p:spPr>
        <p:txBody>
          <a:bodyPr/>
          <a:lstStyle/>
          <a:p>
            <a:endParaRPr lang="de-DE"/>
          </a:p>
        </p:txBody>
      </p:sp>
      <p:sp>
        <p:nvSpPr>
          <p:cNvPr id="139" name="path-138">
            <a:extLst>
              <a:ext uri="{FF2B5EF4-FFF2-40B4-BE49-F238E27FC236}">
                <a16:creationId xmlns:a16="http://schemas.microsoft.com/office/drawing/2014/main" id="{A43965A2-F4A2-435D-83C8-0CDD4EBBFA04}"/>
              </a:ext>
            </a:extLst>
          </p:cNvPr>
          <p:cNvSpPr>
            <a:spLocks noGrp="1"/>
          </p:cNvSpPr>
          <p:nvPr/>
        </p:nvSpPr>
        <p:spPr>
          <a:xfrm>
            <a:off x="16954500" y="14145130"/>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40" name="label-139">
            <a:extLst>
              <a:ext uri="{FF2B5EF4-FFF2-40B4-BE49-F238E27FC236}">
                <a16:creationId xmlns:a16="http://schemas.microsoft.com/office/drawing/2014/main" id="{4F3FC6BF-7880-4EE2-95E0-4DE52A4DF68D}"/>
              </a:ext>
            </a:extLst>
          </p:cNvPr>
          <p:cNvSpPr>
            <a:spLocks noGrp="1"/>
          </p:cNvSpPr>
          <p:nvPr/>
        </p:nvSpPr>
        <p:spPr>
          <a:xfrm>
            <a:off x="15430500" y="16668750"/>
            <a:ext cx="4286250"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1970</a:t>
            </a:r>
          </a:p>
        </p:txBody>
      </p:sp>
      <p:sp>
        <p:nvSpPr>
          <p:cNvPr id="141" name="label-140">
            <a:extLst>
              <a:ext uri="{FF2B5EF4-FFF2-40B4-BE49-F238E27FC236}">
                <a16:creationId xmlns:a16="http://schemas.microsoft.com/office/drawing/2014/main" id="{560CCD40-4A1A-4C4A-BF9D-00BD95646C44}"/>
              </a:ext>
            </a:extLst>
          </p:cNvPr>
          <p:cNvSpPr>
            <a:spLocks noGrp="1"/>
          </p:cNvSpPr>
          <p:nvPr/>
        </p:nvSpPr>
        <p:spPr>
          <a:xfrm>
            <a:off x="15430500" y="17049750"/>
            <a:ext cx="4286250"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Relational databases</a:t>
            </a:r>
          </a:p>
        </p:txBody>
      </p:sp>
      <p:sp>
        <p:nvSpPr>
          <p:cNvPr id="142" name="label-141">
            <a:extLst>
              <a:ext uri="{FF2B5EF4-FFF2-40B4-BE49-F238E27FC236}">
                <a16:creationId xmlns:a16="http://schemas.microsoft.com/office/drawing/2014/main" id="{B725DE5C-6A18-4B62-A0AE-9F1BF8D38F27}"/>
              </a:ext>
            </a:extLst>
          </p:cNvPr>
          <p:cNvSpPr>
            <a:spLocks noGrp="1"/>
          </p:cNvSpPr>
          <p:nvPr/>
        </p:nvSpPr>
        <p:spPr>
          <a:xfrm>
            <a:off x="15430500" y="17468850"/>
            <a:ext cx="4286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E. F. Codd</a:t>
            </a:r>
          </a:p>
        </p:txBody>
      </p:sp>
      <p:sp>
        <p:nvSpPr>
          <p:cNvPr id="143" name="path-142">
            <a:extLst>
              <a:ext uri="{FF2B5EF4-FFF2-40B4-BE49-F238E27FC236}">
                <a16:creationId xmlns:a16="http://schemas.microsoft.com/office/drawing/2014/main" id="{634AEE0D-08B1-49AE-9D79-B1255B74FF43}"/>
              </a:ext>
            </a:extLst>
          </p:cNvPr>
          <p:cNvSpPr>
            <a:spLocks noGrp="1"/>
          </p:cNvSpPr>
          <p:nvPr/>
        </p:nvSpPr>
        <p:spPr>
          <a:xfrm>
            <a:off x="19526250" y="12977945"/>
            <a:ext cx="285750" cy="1452430"/>
          </a:xfrm>
          <a:custGeom>
            <a:avLst/>
            <a:gdLst/>
            <a:ahLst/>
            <a:cxnLst/>
            <a:rect l="0" t="0" r="0" b="0"/>
            <a:pathLst>
              <a:path w="285750" h="1452430">
                <a:moveTo>
                  <a:pt x="0" y="0"/>
                </a:moveTo>
                <a:lnTo>
                  <a:pt x="0" y="1452430"/>
                </a:lnTo>
                <a:lnTo>
                  <a:pt x="285750" y="1452430"/>
                </a:lnTo>
              </a:path>
            </a:pathLst>
          </a:custGeom>
          <a:noFill/>
          <a:ln w="16193">
            <a:solidFill>
              <a:srgbClr val="A5AFB4"/>
            </a:solidFill>
          </a:ln>
        </p:spPr>
        <p:txBody>
          <a:bodyPr/>
          <a:lstStyle/>
          <a:p>
            <a:endParaRPr lang="de-DE"/>
          </a:p>
        </p:txBody>
      </p:sp>
      <p:sp>
        <p:nvSpPr>
          <p:cNvPr id="144" name="path-143">
            <a:extLst>
              <a:ext uri="{FF2B5EF4-FFF2-40B4-BE49-F238E27FC236}">
                <a16:creationId xmlns:a16="http://schemas.microsoft.com/office/drawing/2014/main" id="{0BD41D1C-2E11-4B00-8ED1-F21997DB1FE9}"/>
              </a:ext>
            </a:extLst>
          </p:cNvPr>
          <p:cNvSpPr>
            <a:spLocks noGrp="1"/>
          </p:cNvSpPr>
          <p:nvPr/>
        </p:nvSpPr>
        <p:spPr>
          <a:xfrm>
            <a:off x="19526250" y="12825545"/>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45" name="label-144">
            <a:extLst>
              <a:ext uri="{FF2B5EF4-FFF2-40B4-BE49-F238E27FC236}">
                <a16:creationId xmlns:a16="http://schemas.microsoft.com/office/drawing/2014/main" id="{D891D652-529B-42E7-8D89-87001EEE0F16}"/>
              </a:ext>
            </a:extLst>
          </p:cNvPr>
          <p:cNvSpPr>
            <a:spLocks noGrp="1"/>
          </p:cNvSpPr>
          <p:nvPr/>
        </p:nvSpPr>
        <p:spPr>
          <a:xfrm>
            <a:off x="18669000" y="14687550"/>
            <a:ext cx="4381500"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1980</a:t>
            </a:r>
          </a:p>
        </p:txBody>
      </p:sp>
      <p:sp>
        <p:nvSpPr>
          <p:cNvPr id="146" name="label-145">
            <a:extLst>
              <a:ext uri="{FF2B5EF4-FFF2-40B4-BE49-F238E27FC236}">
                <a16:creationId xmlns:a16="http://schemas.microsoft.com/office/drawing/2014/main" id="{B5BAC8D3-D9A0-447F-8276-3E348B27796F}"/>
              </a:ext>
            </a:extLst>
          </p:cNvPr>
          <p:cNvSpPr>
            <a:spLocks noGrp="1"/>
          </p:cNvSpPr>
          <p:nvPr/>
        </p:nvSpPr>
        <p:spPr>
          <a:xfrm>
            <a:off x="18669000" y="15068550"/>
            <a:ext cx="4381500"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Gigabyte disk storage</a:t>
            </a:r>
          </a:p>
        </p:txBody>
      </p:sp>
      <p:sp>
        <p:nvSpPr>
          <p:cNvPr id="147" name="label-146">
            <a:extLst>
              <a:ext uri="{FF2B5EF4-FFF2-40B4-BE49-F238E27FC236}">
                <a16:creationId xmlns:a16="http://schemas.microsoft.com/office/drawing/2014/main" id="{A7665252-1743-458C-AB8E-CAA6B8E3C0AF}"/>
              </a:ext>
            </a:extLst>
          </p:cNvPr>
          <p:cNvSpPr>
            <a:spLocks noGrp="1"/>
          </p:cNvSpPr>
          <p:nvPr/>
        </p:nvSpPr>
        <p:spPr>
          <a:xfrm>
            <a:off x="18669000" y="15487650"/>
            <a:ext cx="43815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IBM 3380</a:t>
            </a:r>
          </a:p>
        </p:txBody>
      </p:sp>
      <p:sp>
        <p:nvSpPr>
          <p:cNvPr id="148" name="path-147">
            <a:extLst>
              <a:ext uri="{FF2B5EF4-FFF2-40B4-BE49-F238E27FC236}">
                <a16:creationId xmlns:a16="http://schemas.microsoft.com/office/drawing/2014/main" id="{5376B3F0-7E12-4BE6-8339-69DC8D226F12}"/>
              </a:ext>
            </a:extLst>
          </p:cNvPr>
          <p:cNvSpPr>
            <a:spLocks noGrp="1"/>
          </p:cNvSpPr>
          <p:nvPr/>
        </p:nvSpPr>
        <p:spPr>
          <a:xfrm>
            <a:off x="22669500" y="9762362"/>
            <a:ext cx="285750" cy="6573013"/>
          </a:xfrm>
          <a:custGeom>
            <a:avLst/>
            <a:gdLst/>
            <a:ahLst/>
            <a:cxnLst/>
            <a:rect l="0" t="0" r="0" b="0"/>
            <a:pathLst>
              <a:path w="285750" h="6573013">
                <a:moveTo>
                  <a:pt x="0" y="0"/>
                </a:moveTo>
                <a:lnTo>
                  <a:pt x="0" y="6573013"/>
                </a:lnTo>
                <a:lnTo>
                  <a:pt x="285750" y="6573013"/>
                </a:lnTo>
              </a:path>
            </a:pathLst>
          </a:custGeom>
          <a:noFill/>
          <a:ln w="16193">
            <a:solidFill>
              <a:srgbClr val="A5AFB4"/>
            </a:solidFill>
          </a:ln>
        </p:spPr>
        <p:txBody>
          <a:bodyPr/>
          <a:lstStyle/>
          <a:p>
            <a:endParaRPr lang="de-DE"/>
          </a:p>
        </p:txBody>
      </p:sp>
      <p:sp>
        <p:nvSpPr>
          <p:cNvPr id="149" name="path-148">
            <a:extLst>
              <a:ext uri="{FF2B5EF4-FFF2-40B4-BE49-F238E27FC236}">
                <a16:creationId xmlns:a16="http://schemas.microsoft.com/office/drawing/2014/main" id="{50C664F9-41D1-4320-A0DE-EC9EB1D2A055}"/>
              </a:ext>
            </a:extLst>
          </p:cNvPr>
          <p:cNvSpPr>
            <a:spLocks noGrp="1"/>
          </p:cNvSpPr>
          <p:nvPr/>
        </p:nvSpPr>
        <p:spPr>
          <a:xfrm>
            <a:off x="22669500" y="9609962"/>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50" name="label-149">
            <a:extLst>
              <a:ext uri="{FF2B5EF4-FFF2-40B4-BE49-F238E27FC236}">
                <a16:creationId xmlns:a16="http://schemas.microsoft.com/office/drawing/2014/main" id="{6C8EC292-8EA5-4F48-A860-8990A3C290A2}"/>
              </a:ext>
            </a:extLst>
          </p:cNvPr>
          <p:cNvSpPr>
            <a:spLocks noGrp="1"/>
          </p:cNvSpPr>
          <p:nvPr/>
        </p:nvSpPr>
        <p:spPr>
          <a:xfrm>
            <a:off x="21526500" y="16573500"/>
            <a:ext cx="3952875"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1985</a:t>
            </a:r>
          </a:p>
        </p:txBody>
      </p:sp>
      <p:sp>
        <p:nvSpPr>
          <p:cNvPr id="151" name="label-150">
            <a:extLst>
              <a:ext uri="{FF2B5EF4-FFF2-40B4-BE49-F238E27FC236}">
                <a16:creationId xmlns:a16="http://schemas.microsoft.com/office/drawing/2014/main" id="{F58B17E9-1EAA-4753-B36F-D267A0346C36}"/>
              </a:ext>
            </a:extLst>
          </p:cNvPr>
          <p:cNvSpPr>
            <a:spLocks noGrp="1"/>
          </p:cNvSpPr>
          <p:nvPr/>
        </p:nvSpPr>
        <p:spPr>
          <a:xfrm>
            <a:off x="21526500" y="16954500"/>
            <a:ext cx="3952875"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C++</a:t>
            </a:r>
          </a:p>
        </p:txBody>
      </p:sp>
      <p:sp>
        <p:nvSpPr>
          <p:cNvPr id="152" name="label-151">
            <a:extLst>
              <a:ext uri="{FF2B5EF4-FFF2-40B4-BE49-F238E27FC236}">
                <a16:creationId xmlns:a16="http://schemas.microsoft.com/office/drawing/2014/main" id="{8AA88C94-613A-4961-82A1-5D326F60643B}"/>
              </a:ext>
            </a:extLst>
          </p:cNvPr>
          <p:cNvSpPr>
            <a:spLocks noGrp="1"/>
          </p:cNvSpPr>
          <p:nvPr/>
        </p:nvSpPr>
        <p:spPr>
          <a:xfrm>
            <a:off x="21526500" y="17373600"/>
            <a:ext cx="3952875"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Bjarne Stroustrup</a:t>
            </a:r>
          </a:p>
        </p:txBody>
      </p:sp>
      <p:sp>
        <p:nvSpPr>
          <p:cNvPr id="153" name="path-152">
            <a:extLst>
              <a:ext uri="{FF2B5EF4-FFF2-40B4-BE49-F238E27FC236}">
                <a16:creationId xmlns:a16="http://schemas.microsoft.com/office/drawing/2014/main" id="{3AC0C9BA-A6B8-434C-A1E1-8ADF0F774703}"/>
              </a:ext>
            </a:extLst>
          </p:cNvPr>
          <p:cNvSpPr>
            <a:spLocks noGrp="1"/>
          </p:cNvSpPr>
          <p:nvPr/>
        </p:nvSpPr>
        <p:spPr>
          <a:xfrm>
            <a:off x="24765000" y="7431937"/>
            <a:ext cx="285750" cy="7427063"/>
          </a:xfrm>
          <a:custGeom>
            <a:avLst/>
            <a:gdLst/>
            <a:ahLst/>
            <a:cxnLst/>
            <a:rect l="0" t="0" r="0" b="0"/>
            <a:pathLst>
              <a:path w="285750" h="7427063">
                <a:moveTo>
                  <a:pt x="285750" y="0"/>
                </a:moveTo>
                <a:lnTo>
                  <a:pt x="285750" y="7427063"/>
                </a:lnTo>
                <a:lnTo>
                  <a:pt x="0" y="7427063"/>
                </a:lnTo>
              </a:path>
            </a:pathLst>
          </a:custGeom>
          <a:noFill/>
          <a:ln w="16193">
            <a:solidFill>
              <a:srgbClr val="A5AFB4"/>
            </a:solidFill>
          </a:ln>
        </p:spPr>
        <p:txBody>
          <a:bodyPr/>
          <a:lstStyle/>
          <a:p>
            <a:endParaRPr lang="de-DE"/>
          </a:p>
        </p:txBody>
      </p:sp>
      <p:sp>
        <p:nvSpPr>
          <p:cNvPr id="154" name="path-153">
            <a:extLst>
              <a:ext uri="{FF2B5EF4-FFF2-40B4-BE49-F238E27FC236}">
                <a16:creationId xmlns:a16="http://schemas.microsoft.com/office/drawing/2014/main" id="{A6F93583-784E-4A99-A350-4A6B5626C05B}"/>
              </a:ext>
            </a:extLst>
          </p:cNvPr>
          <p:cNvSpPr>
            <a:spLocks noGrp="1"/>
          </p:cNvSpPr>
          <p:nvPr/>
        </p:nvSpPr>
        <p:spPr>
          <a:xfrm>
            <a:off x="25050750" y="7279537"/>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55" name="label-154">
            <a:extLst>
              <a:ext uri="{FF2B5EF4-FFF2-40B4-BE49-F238E27FC236}">
                <a16:creationId xmlns:a16="http://schemas.microsoft.com/office/drawing/2014/main" id="{72AFBB77-E1A3-462A-B072-DB443D2AD84B}"/>
              </a:ext>
            </a:extLst>
          </p:cNvPr>
          <p:cNvSpPr>
            <a:spLocks noGrp="1"/>
          </p:cNvSpPr>
          <p:nvPr/>
        </p:nvSpPr>
        <p:spPr>
          <a:xfrm>
            <a:off x="24384000" y="15144750"/>
            <a:ext cx="4191000"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1991</a:t>
            </a:r>
          </a:p>
        </p:txBody>
      </p:sp>
      <p:sp>
        <p:nvSpPr>
          <p:cNvPr id="156" name="label-155">
            <a:extLst>
              <a:ext uri="{FF2B5EF4-FFF2-40B4-BE49-F238E27FC236}">
                <a16:creationId xmlns:a16="http://schemas.microsoft.com/office/drawing/2014/main" id="{AFD25D25-96B9-4DBE-A483-276295BEA811}"/>
              </a:ext>
            </a:extLst>
          </p:cNvPr>
          <p:cNvSpPr>
            <a:spLocks noGrp="1"/>
          </p:cNvSpPr>
          <p:nvPr/>
        </p:nvSpPr>
        <p:spPr>
          <a:xfrm>
            <a:off x="24384000" y="15525750"/>
            <a:ext cx="4191000"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Python</a:t>
            </a:r>
          </a:p>
        </p:txBody>
      </p:sp>
      <p:sp>
        <p:nvSpPr>
          <p:cNvPr id="157" name="label-156">
            <a:extLst>
              <a:ext uri="{FF2B5EF4-FFF2-40B4-BE49-F238E27FC236}">
                <a16:creationId xmlns:a16="http://schemas.microsoft.com/office/drawing/2014/main" id="{5F81EE15-B573-4A3F-941D-E358A9C84B66}"/>
              </a:ext>
            </a:extLst>
          </p:cNvPr>
          <p:cNvSpPr>
            <a:spLocks noGrp="1"/>
          </p:cNvSpPr>
          <p:nvPr/>
        </p:nvSpPr>
        <p:spPr>
          <a:xfrm>
            <a:off x="24384000" y="15944850"/>
            <a:ext cx="419100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Guido van Rossum</a:t>
            </a:r>
          </a:p>
        </p:txBody>
      </p:sp>
      <p:sp>
        <p:nvSpPr>
          <p:cNvPr id="158" name="path-157">
            <a:extLst>
              <a:ext uri="{FF2B5EF4-FFF2-40B4-BE49-F238E27FC236}">
                <a16:creationId xmlns:a16="http://schemas.microsoft.com/office/drawing/2014/main" id="{B98A224A-803C-454E-80E7-E6D09A860DE2}"/>
              </a:ext>
            </a:extLst>
          </p:cNvPr>
          <p:cNvSpPr>
            <a:spLocks noGrp="1"/>
          </p:cNvSpPr>
          <p:nvPr/>
        </p:nvSpPr>
        <p:spPr>
          <a:xfrm>
            <a:off x="23717250" y="8438186"/>
            <a:ext cx="4572000" cy="8040064"/>
          </a:xfrm>
          <a:custGeom>
            <a:avLst/>
            <a:gdLst/>
            <a:ahLst/>
            <a:cxnLst/>
            <a:rect l="0" t="0" r="0" b="0"/>
            <a:pathLst>
              <a:path w="4572000" h="8040064">
                <a:moveTo>
                  <a:pt x="0" y="0"/>
                </a:moveTo>
                <a:lnTo>
                  <a:pt x="0" y="8040064"/>
                </a:lnTo>
                <a:lnTo>
                  <a:pt x="4572000" y="8040064"/>
                </a:lnTo>
              </a:path>
            </a:pathLst>
          </a:custGeom>
          <a:noFill/>
          <a:ln w="16193">
            <a:solidFill>
              <a:srgbClr val="A5AFB4"/>
            </a:solidFill>
          </a:ln>
        </p:spPr>
        <p:txBody>
          <a:bodyPr/>
          <a:lstStyle/>
          <a:p>
            <a:endParaRPr lang="de-DE"/>
          </a:p>
        </p:txBody>
      </p:sp>
      <p:sp>
        <p:nvSpPr>
          <p:cNvPr id="159" name="path-158">
            <a:extLst>
              <a:ext uri="{FF2B5EF4-FFF2-40B4-BE49-F238E27FC236}">
                <a16:creationId xmlns:a16="http://schemas.microsoft.com/office/drawing/2014/main" id="{9E4434BD-F99B-434F-A9A6-C65ECBCF026C}"/>
              </a:ext>
            </a:extLst>
          </p:cNvPr>
          <p:cNvSpPr>
            <a:spLocks noGrp="1"/>
          </p:cNvSpPr>
          <p:nvPr/>
        </p:nvSpPr>
        <p:spPr>
          <a:xfrm>
            <a:off x="23717250" y="8285786"/>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60" name="label-159">
            <a:extLst>
              <a:ext uri="{FF2B5EF4-FFF2-40B4-BE49-F238E27FC236}">
                <a16:creationId xmlns:a16="http://schemas.microsoft.com/office/drawing/2014/main" id="{A4BBC0AA-0B2B-44F8-B4A9-86624AEC22E0}"/>
              </a:ext>
            </a:extLst>
          </p:cNvPr>
          <p:cNvSpPr>
            <a:spLocks noGrp="1"/>
          </p:cNvSpPr>
          <p:nvPr/>
        </p:nvSpPr>
        <p:spPr>
          <a:xfrm>
            <a:off x="27432000" y="16668750"/>
            <a:ext cx="4286250"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1989–1991</a:t>
            </a:r>
          </a:p>
        </p:txBody>
      </p:sp>
      <p:sp>
        <p:nvSpPr>
          <p:cNvPr id="161" name="label-160">
            <a:extLst>
              <a:ext uri="{FF2B5EF4-FFF2-40B4-BE49-F238E27FC236}">
                <a16:creationId xmlns:a16="http://schemas.microsoft.com/office/drawing/2014/main" id="{6BF37C82-A8A5-40EA-A32E-A417CD835983}"/>
              </a:ext>
            </a:extLst>
          </p:cNvPr>
          <p:cNvSpPr>
            <a:spLocks noGrp="1"/>
          </p:cNvSpPr>
          <p:nvPr/>
        </p:nvSpPr>
        <p:spPr>
          <a:xfrm>
            <a:off x="27432000" y="17049750"/>
            <a:ext cx="4286250"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World Wide Web</a:t>
            </a:r>
          </a:p>
        </p:txBody>
      </p:sp>
      <p:sp>
        <p:nvSpPr>
          <p:cNvPr id="162" name="label-161">
            <a:extLst>
              <a:ext uri="{FF2B5EF4-FFF2-40B4-BE49-F238E27FC236}">
                <a16:creationId xmlns:a16="http://schemas.microsoft.com/office/drawing/2014/main" id="{7DCD1C45-C418-45CE-9470-88EE33379497}"/>
              </a:ext>
            </a:extLst>
          </p:cNvPr>
          <p:cNvSpPr>
            <a:spLocks noGrp="1"/>
          </p:cNvSpPr>
          <p:nvPr/>
        </p:nvSpPr>
        <p:spPr>
          <a:xfrm>
            <a:off x="27432000" y="17468850"/>
            <a:ext cx="42862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Tim Berners-Lee</a:t>
            </a:r>
          </a:p>
        </p:txBody>
      </p:sp>
      <p:sp>
        <p:nvSpPr>
          <p:cNvPr id="163" name="path-162">
            <a:extLst>
              <a:ext uri="{FF2B5EF4-FFF2-40B4-BE49-F238E27FC236}">
                <a16:creationId xmlns:a16="http://schemas.microsoft.com/office/drawing/2014/main" id="{E21E69B0-7739-47E5-877C-8EA3817BD54E}"/>
              </a:ext>
            </a:extLst>
          </p:cNvPr>
          <p:cNvSpPr>
            <a:spLocks noGrp="1"/>
          </p:cNvSpPr>
          <p:nvPr/>
        </p:nvSpPr>
        <p:spPr>
          <a:xfrm>
            <a:off x="25431750" y="7323250"/>
            <a:ext cx="1905000" cy="1125425"/>
          </a:xfrm>
          <a:custGeom>
            <a:avLst/>
            <a:gdLst/>
            <a:ahLst/>
            <a:cxnLst/>
            <a:rect l="0" t="0" r="0" b="0"/>
            <a:pathLst>
              <a:path w="1905000" h="1125425">
                <a:moveTo>
                  <a:pt x="0" y="0"/>
                </a:moveTo>
                <a:lnTo>
                  <a:pt x="0" y="1125425"/>
                </a:lnTo>
                <a:lnTo>
                  <a:pt x="1905000" y="1125425"/>
                </a:lnTo>
              </a:path>
            </a:pathLst>
          </a:custGeom>
          <a:noFill/>
          <a:ln w="16193">
            <a:solidFill>
              <a:srgbClr val="A5AFB4"/>
            </a:solidFill>
          </a:ln>
        </p:spPr>
        <p:txBody>
          <a:bodyPr/>
          <a:lstStyle/>
          <a:p>
            <a:endParaRPr lang="de-DE"/>
          </a:p>
        </p:txBody>
      </p:sp>
      <p:sp>
        <p:nvSpPr>
          <p:cNvPr id="164" name="path-163">
            <a:extLst>
              <a:ext uri="{FF2B5EF4-FFF2-40B4-BE49-F238E27FC236}">
                <a16:creationId xmlns:a16="http://schemas.microsoft.com/office/drawing/2014/main" id="{0F932FF1-02A9-4858-AFCF-A864EA1CC61D}"/>
              </a:ext>
            </a:extLst>
          </p:cNvPr>
          <p:cNvSpPr>
            <a:spLocks noGrp="1"/>
          </p:cNvSpPr>
          <p:nvPr/>
        </p:nvSpPr>
        <p:spPr>
          <a:xfrm>
            <a:off x="25431750" y="7170850"/>
            <a:ext cx="9525" cy="304800"/>
          </a:xfrm>
          <a:custGeom>
            <a:avLst/>
            <a:gdLst/>
            <a:ahLst/>
            <a:cxnLst/>
            <a:rect l="0" t="0" r="0" b="0"/>
            <a:pathLst>
              <a:path w="9525" h="304800">
                <a:moveTo>
                  <a:pt x="0" y="0"/>
                </a:moveTo>
                <a:lnTo>
                  <a:pt x="0" y="304800"/>
                </a:lnTo>
              </a:path>
            </a:pathLst>
          </a:custGeom>
          <a:noFill/>
          <a:ln w="38100">
            <a:solidFill>
              <a:srgbClr val="B79728"/>
            </a:solidFill>
          </a:ln>
        </p:spPr>
        <p:txBody>
          <a:bodyPr/>
          <a:lstStyle/>
          <a:p>
            <a:endParaRPr lang="de-DE"/>
          </a:p>
        </p:txBody>
      </p:sp>
      <p:sp>
        <p:nvSpPr>
          <p:cNvPr id="165" name="label-164">
            <a:extLst>
              <a:ext uri="{FF2B5EF4-FFF2-40B4-BE49-F238E27FC236}">
                <a16:creationId xmlns:a16="http://schemas.microsoft.com/office/drawing/2014/main" id="{0B6514F9-BBAB-4180-969C-FC78E26EA6BF}"/>
              </a:ext>
            </a:extLst>
          </p:cNvPr>
          <p:cNvSpPr>
            <a:spLocks noGrp="1"/>
          </p:cNvSpPr>
          <p:nvPr/>
        </p:nvSpPr>
        <p:spPr>
          <a:xfrm>
            <a:off x="27051000" y="8715375"/>
            <a:ext cx="4857750" cy="383858"/>
          </a:xfrm>
          <a:prstGeom prst="rect">
            <a:avLst/>
          </a:prstGeom>
          <a:noFill/>
          <a:ln w="0">
            <a:noFill/>
          </a:ln>
        </p:spPr>
        <p:txBody>
          <a:bodyPr wrap="none" lIns="0" tIns="0" rIns="0" bIns="0">
            <a:noAutofit/>
          </a:bodyPr>
          <a:lstStyle/>
          <a:p>
            <a:pPr>
              <a:defRPr sz="2325" b="1">
                <a:solidFill>
                  <a:srgbClr val="B79728"/>
                </a:solidFill>
                <a:latin typeface="Calibri"/>
                <a:ea typeface="Calibri"/>
                <a:cs typeface="Calibri"/>
              </a:defRPr>
            </a:pPr>
            <a:r>
              <a:rPr sz="2325" b="1">
                <a:solidFill>
                  <a:srgbClr val="B79728"/>
                </a:solidFill>
                <a:latin typeface="Calibri"/>
                <a:ea typeface="Calibri"/>
                <a:cs typeface="Calibri"/>
              </a:rPr>
              <a:t>2006–2007</a:t>
            </a:r>
          </a:p>
        </p:txBody>
      </p:sp>
      <p:sp>
        <p:nvSpPr>
          <p:cNvPr id="166" name="label-165">
            <a:extLst>
              <a:ext uri="{FF2B5EF4-FFF2-40B4-BE49-F238E27FC236}">
                <a16:creationId xmlns:a16="http://schemas.microsoft.com/office/drawing/2014/main" id="{DF72F998-A413-4E62-8BE5-5826977AE22A}"/>
              </a:ext>
            </a:extLst>
          </p:cNvPr>
          <p:cNvSpPr>
            <a:spLocks noGrp="1"/>
          </p:cNvSpPr>
          <p:nvPr/>
        </p:nvSpPr>
        <p:spPr>
          <a:xfrm>
            <a:off x="27051000" y="9096375"/>
            <a:ext cx="4857750" cy="445770"/>
          </a:xfrm>
          <a:prstGeom prst="rect">
            <a:avLst/>
          </a:prstGeom>
          <a:noFill/>
          <a:ln w="0">
            <a:noFill/>
          </a:ln>
        </p:spPr>
        <p:txBody>
          <a:bodyPr wrap="none" lIns="0" tIns="0" rIns="0" bIns="0">
            <a:noAutofit/>
          </a:bodyPr>
          <a:lstStyle/>
          <a:p>
            <a:pPr>
              <a:defRPr sz="2700" b="1">
                <a:solidFill>
                  <a:srgbClr val="B79728"/>
                </a:solidFill>
                <a:latin typeface="Calibri"/>
                <a:ea typeface="Calibri"/>
                <a:cs typeface="Calibri"/>
              </a:defRPr>
            </a:pPr>
            <a:r>
              <a:rPr sz="2700" b="1">
                <a:solidFill>
                  <a:srgbClr val="B79728"/>
                </a:solidFill>
                <a:latin typeface="Calibri"/>
                <a:ea typeface="Calibri"/>
                <a:cs typeface="Calibri"/>
              </a:rPr>
              <a:t>GPU computing / CUDA</a:t>
            </a:r>
          </a:p>
        </p:txBody>
      </p:sp>
      <p:sp>
        <p:nvSpPr>
          <p:cNvPr id="167" name="label-166">
            <a:extLst>
              <a:ext uri="{FF2B5EF4-FFF2-40B4-BE49-F238E27FC236}">
                <a16:creationId xmlns:a16="http://schemas.microsoft.com/office/drawing/2014/main" id="{9A85C669-FC03-49D3-BBC0-8EF55CEBF2BB}"/>
              </a:ext>
            </a:extLst>
          </p:cNvPr>
          <p:cNvSpPr>
            <a:spLocks noGrp="1"/>
          </p:cNvSpPr>
          <p:nvPr/>
        </p:nvSpPr>
        <p:spPr>
          <a:xfrm>
            <a:off x="27051000" y="9515475"/>
            <a:ext cx="4857750" cy="371475"/>
          </a:xfrm>
          <a:prstGeom prst="rect">
            <a:avLst/>
          </a:prstGeom>
          <a:noFill/>
          <a:ln w="0">
            <a:noFill/>
          </a:ln>
        </p:spPr>
        <p:txBody>
          <a:bodyPr wrap="none" lIns="0" tIns="0" rIns="0" bIns="0">
            <a:noAutofit/>
          </a:bodyPr>
          <a:lstStyle/>
          <a:p>
            <a:pPr>
              <a:defRPr sz="2250" b="0">
                <a:solidFill>
                  <a:srgbClr val="64727A"/>
                </a:solidFill>
                <a:latin typeface="Calibri"/>
                <a:ea typeface="Calibri"/>
                <a:cs typeface="Calibri"/>
              </a:defRPr>
            </a:pPr>
            <a:r>
              <a:rPr sz="2250" b="0">
                <a:solidFill>
                  <a:srgbClr val="64727A"/>
                </a:solidFill>
                <a:latin typeface="Calibri"/>
                <a:ea typeface="Calibri"/>
                <a:cs typeface="Calibri"/>
              </a:rPr>
              <a:t>NVIDIA</a:t>
            </a:r>
          </a:p>
        </p:txBody>
      </p:sp>
    </p:spTree>
    <p:extLst>
      <p:ext uri="{BB962C8B-B14F-4D97-AF65-F5344CB8AC3E}">
        <p14:creationId xmlns:p14="http://schemas.microsoft.com/office/powerpoint/2010/main" val="12549588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1325</Words>
  <Application>Microsoft Office PowerPoint</Application>
  <DocSecurity>0</DocSecurity>
  <PresentationFormat>Benutzerdefiniert</PresentationFormat>
  <Paragraphs>133</Paragraphs>
  <Slides>1</Slides>
  <Notes>1</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vt:i4>
      </vt:variant>
    </vt:vector>
  </HeadingPairs>
  <TitlesOfParts>
    <vt:vector size="3" baseType="lpstr">
      <vt:lpstr>Calibri</vt:lpstr>
      <vt:lpstr>ChatGPT</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Dirk Ostwald</cp:lastModifiedBy>
  <cp:revision>2</cp:revision>
  <dcterms:created xsi:type="dcterms:W3CDTF">2026-10-07T08:44:07Z</dcterms:created>
  <dcterms:modified xsi:type="dcterms:W3CDTF">2026-10-07T08:48:37Z</dcterms:modified>
</cp:coreProperties>
</file>